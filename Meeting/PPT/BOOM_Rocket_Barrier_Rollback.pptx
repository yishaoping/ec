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5C9D6"/>
                </a:solidFill>
                <a:latin typeface="Noto Sans Mono CJK SC"/>
              </a:rPr>
              <a:t>CHIPYARD RESEARCH BRIEF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5669280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1F5F8"/>
                </a:solidFill>
                <a:latin typeface="Noto Sans CJK SC"/>
              </a:rPr>
              <a:t>面向 BOOM–Rocket 异构核
协同校验系统的错误传播分析
与屏障回滚机制设计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487168"/>
            <a:ext cx="5715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A5B5C1"/>
                </a:solidFill>
                <a:latin typeface="Noto Sans CJK SC"/>
              </a:rPr>
              <a:t>把“检测到错误”推进为“错误不逃逸、状态可恢复”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115568"/>
            <a:ext cx="4956048" cy="4526280"/>
          </a:xfrm>
          <a:prstGeom prst="roundRect">
            <a:avLst/>
          </a:prstGeom>
          <a:solidFill>
            <a:srgbClr val="18222E"/>
          </a:solidFill>
          <a:ln w="1016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76288" y="1344168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1F5F8"/>
                </a:solidFill>
                <a:latin typeface="Noto Sans CJK SC"/>
              </a:rPr>
              <a:t>异构协同校验闭环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1874519"/>
            <a:ext cx="1508760" cy="1024128"/>
          </a:xfrm>
          <a:prstGeom prst="roundRect">
            <a:avLst/>
          </a:prstGeom>
          <a:solidFill>
            <a:srgbClr val="1F2B39"/>
          </a:solidFill>
          <a:ln w="1397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95160" y="1874519"/>
            <a:ext cx="64008" cy="1024128"/>
          </a:xfrm>
          <a:prstGeom prst="rect">
            <a:avLst/>
          </a:prstGeom>
          <a:solidFill>
            <a:srgbClr val="45C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23176" y="1993391"/>
            <a:ext cx="12527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1F5F8"/>
                </a:solidFill>
                <a:latin typeface="Noto Sans CJK SC"/>
              </a:rPr>
              <a:t>BOOM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3176" y="2313432"/>
            <a:ext cx="125272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CJK SC"/>
              </a:rPr>
              <a:t>1 × high-performance
200 MHz · hart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28048" y="1874519"/>
            <a:ext cx="1572768" cy="1024128"/>
          </a:xfrm>
          <a:prstGeom prst="roundRect">
            <a:avLst/>
          </a:prstGeom>
          <a:solidFill>
            <a:srgbClr val="1F2B39"/>
          </a:solidFill>
          <a:ln w="1397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28048" y="1874519"/>
            <a:ext cx="64008" cy="1024128"/>
          </a:xfrm>
          <a:prstGeom prst="rect">
            <a:avLst/>
          </a:prstGeom>
          <a:solidFill>
            <a:srgbClr val="60C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6064" y="1993391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1F5F8"/>
                </a:solidFill>
                <a:latin typeface="Noto Sans CJK SC"/>
              </a:rPr>
              <a:t>Rocket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6064" y="2313432"/>
            <a:ext cx="13167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CJK SC"/>
              </a:rPr>
              <a:t>4 × checker
100 MHz · hart 1–4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22208" y="2359152"/>
            <a:ext cx="941832" cy="0"/>
          </a:xfrm>
          <a:prstGeom prst="line">
            <a:avLst/>
          </a:prstGeom>
          <a:ln w="31750">
            <a:solidFill>
              <a:srgbClr val="45C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0" y="1993392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45C9D6"/>
                </a:solidFill>
                <a:latin typeface="Noto Sans CJK SC"/>
              </a:rPr>
              <a:t>校验 packet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3246120"/>
            <a:ext cx="1920240" cy="713232"/>
          </a:xfrm>
          <a:prstGeom prst="roundRect">
            <a:avLst/>
          </a:prstGeom>
          <a:solidFill>
            <a:srgbClr val="1F2B39"/>
          </a:solidFill>
          <a:ln w="1397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1312" y="3246120"/>
            <a:ext cx="64008" cy="713232"/>
          </a:xfrm>
          <a:prstGeom prst="rect">
            <a:avLst/>
          </a:prstGeom>
          <a:solidFill>
            <a:srgbClr val="EF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3364991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1F5F8"/>
                </a:solidFill>
                <a:latin typeface="Noto Sans CJK SC"/>
              </a:rPr>
              <a:t>GH_BUF → GHM/CDC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3685031"/>
            <a:ext cx="16642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CJK SC"/>
              </a:rPr>
              <a:t>136 bit × 2 packet · depth 256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54112" y="2907792"/>
            <a:ext cx="1024128" cy="292608"/>
          </a:xfrm>
          <a:prstGeom prst="line">
            <a:avLst/>
          </a:prstGeom>
          <a:ln w="22860">
            <a:solidFill>
              <a:srgbClr val="45C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9628632" y="2907792"/>
            <a:ext cx="365760" cy="292608"/>
          </a:xfrm>
          <a:prstGeom prst="line">
            <a:avLst/>
          </a:prstGeom>
          <a:ln w="22860">
            <a:solidFill>
              <a:srgbClr val="60C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95160" y="4462272"/>
            <a:ext cx="1508760" cy="694944"/>
          </a:xfrm>
          <a:prstGeom prst="roundRect">
            <a:avLst/>
          </a:prstGeom>
          <a:solidFill>
            <a:srgbClr val="1F2B39"/>
          </a:solidFill>
          <a:ln w="1397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95160" y="4462272"/>
            <a:ext cx="64008" cy="694944"/>
          </a:xfrm>
          <a:prstGeom prst="rect">
            <a:avLst/>
          </a:prstGeom>
          <a:solidFill>
            <a:srgbClr val="F29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3176" y="4581144"/>
            <a:ext cx="12527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1F5F8"/>
                </a:solidFill>
                <a:latin typeface="Noto Sans CJK SC"/>
              </a:rPr>
              <a:t>L1D / L2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3176" y="4901183"/>
            <a:ext cx="1252728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CJK SC"/>
              </a:rPr>
              <a:t>cacheable state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8048" y="4462272"/>
            <a:ext cx="1572768" cy="694944"/>
          </a:xfrm>
          <a:prstGeom prst="roundRect">
            <a:avLst/>
          </a:prstGeom>
          <a:solidFill>
            <a:srgbClr val="1F2B39"/>
          </a:solidFill>
          <a:ln w="1397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28048" y="4462272"/>
            <a:ext cx="64008" cy="694944"/>
          </a:xfrm>
          <a:prstGeom prst="rect">
            <a:avLst/>
          </a:prstGeom>
          <a:solidFill>
            <a:srgbClr val="F16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56064" y="4581144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1F5F8"/>
                </a:solidFill>
                <a:latin typeface="Noto Sans CJK SC"/>
              </a:rPr>
              <a:t>MMIO / DRAM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6064" y="4901183"/>
            <a:ext cx="1316736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CJK SC"/>
              </a:rPr>
              <a:t>external state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44968" y="4800600"/>
            <a:ext cx="1709928" cy="0"/>
          </a:xfrm>
          <a:prstGeom prst="line">
            <a:avLst/>
          </a:prstGeom>
          <a:ln w="24130">
            <a:solidFill>
              <a:srgbClr val="F29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949440" y="5266944"/>
            <a:ext cx="4434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30" b="0" i="0">
                <a:solidFill>
                  <a:srgbClr val="A5B5C1"/>
                </a:solidFill>
                <a:latin typeface="Noto Sans CJK SC"/>
              </a:rPr>
              <a:t>Barrier gates irreversible effects; rollback repairs reversible effects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3127248"/>
            <a:ext cx="1874519" cy="1664208"/>
          </a:xfrm>
          <a:prstGeom prst="roundRect">
            <a:avLst/>
          </a:prstGeom>
          <a:solidFill>
            <a:srgbClr val="18222E"/>
          </a:solidFill>
          <a:ln w="1016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3236976"/>
            <a:ext cx="16001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16865"/>
                </a:solidFill>
                <a:latin typeface="Noto Sans CJK SC"/>
              </a:rPr>
              <a:t>问题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3557015"/>
            <a:ext cx="1618487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1F5F8"/>
                </a:solidFill>
                <a:latin typeface="Noto Sans CJK SC"/>
              </a:rPr>
              <a:t>• BOOM 先执行，Rocket 后确认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1F5F8"/>
                </a:solidFill>
                <a:latin typeface="Noto Sans CJK SC"/>
              </a:rPr>
              <a:t>• 副作用可能先于校验发生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51760" y="3127248"/>
            <a:ext cx="1874519" cy="1664208"/>
          </a:xfrm>
          <a:prstGeom prst="roundRect">
            <a:avLst/>
          </a:prstGeom>
          <a:solidFill>
            <a:srgbClr val="18222E"/>
          </a:solidFill>
          <a:ln w="1016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8920" y="3236976"/>
            <a:ext cx="16001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5C9D6"/>
                </a:solidFill>
                <a:latin typeface="Noto Sans CJK SC"/>
              </a:rPr>
              <a:t>目标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79776" y="3557015"/>
            <a:ext cx="1618487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1F5F8"/>
                </a:solidFill>
                <a:latin typeface="Noto Sans CJK SC"/>
              </a:rPr>
              <a:t>• 隔离未确认状态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1F5F8"/>
                </a:solidFill>
                <a:latin typeface="Noto Sans CJK SC"/>
              </a:rPr>
              <a:t>• 错误后回到一致点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9160" y="3127248"/>
            <a:ext cx="1572768" cy="1664208"/>
          </a:xfrm>
          <a:prstGeom prst="roundRect">
            <a:avLst/>
          </a:prstGeom>
          <a:solidFill>
            <a:srgbClr val="18222E"/>
          </a:solidFill>
          <a:ln w="1016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3236976"/>
            <a:ext cx="1298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9D46"/>
                </a:solidFill>
                <a:latin typeface="Noto Sans CJK SC"/>
              </a:rPr>
              <a:t>方法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37176" y="3557015"/>
            <a:ext cx="1316736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1F5F8"/>
                </a:solidFill>
                <a:latin typeface="Noto Sans CJK SC"/>
              </a:rPr>
              <a:t>• 路径分层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1F5F8"/>
                </a:solidFill>
                <a:latin typeface="Noto Sans CJK SC"/>
              </a:rPr>
              <a:t>• 难度分级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" y="5650992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1F5F8"/>
                </a:solidFill>
                <a:latin typeface="Noto Sans CJK SC"/>
              </a:rPr>
              <a:t>核心抽象：Propagation Path × Rollback Difficulty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6409944"/>
            <a:ext cx="11183112" cy="0"/>
          </a:xfrm>
          <a:prstGeom prst="line">
            <a:avLst/>
          </a:prstGeom>
          <a:ln w="8890">
            <a:solidFill>
              <a:srgbClr val="35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12064" y="64739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A5B5C1"/>
                </a:solidFill>
                <a:latin typeface="Noto Sans Mono CJK SC"/>
              </a:rPr>
              <a:t>Chipyard · BOOM ↔ Rocket · Error recovery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6473952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A5B5C1"/>
                </a:solidFill>
                <a:latin typeface="Noto Sans Mono CJK SC"/>
              </a:rPr>
              <a:t>01 / BACKGROUND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2860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5C9D6"/>
                </a:solidFill>
                <a:latin typeface="Noto Sans Mono CJK S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1031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5B5C1"/>
                </a:solidFill>
                <a:latin typeface="Noto Sans Mono CJK SC"/>
              </a:rPr>
              <a:t>PROBLEM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521207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1F5F8"/>
                </a:solidFill>
                <a:latin typeface="Noto Sans CJK SC"/>
              </a:rPr>
              <a:t>为什么需要 Barrier + Rollback？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" y="1042415"/>
            <a:ext cx="11201400" cy="429768"/>
          </a:xfrm>
          <a:prstGeom prst="roundRect">
            <a:avLst/>
          </a:prstGeom>
          <a:solidFill>
            <a:srgbClr val="185766"/>
          </a:solidFill>
          <a:ln w="6350">
            <a:solidFill>
              <a:srgbClr val="185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097280"/>
            <a:ext cx="108356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1F5F8"/>
                </a:solidFill>
                <a:latin typeface="Noto Sans CJK SC"/>
              </a:rPr>
              <a:t>核心观点  屏障阻断不可逆传播；回滚撤销已经发生的可逆修改。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28600"/>
            <a:ext cx="7040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60" b="0" i="0">
                <a:solidFill>
                  <a:srgbClr val="A5B5C1"/>
                </a:solidFill>
                <a:latin typeface="Noto Sans Mono CJK SC"/>
              </a:rPr>
              <a:t>REF · Method/EC.typ；Method/boom_dataflow_analysis.typ:51–65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1F5F8"/>
                </a:solidFill>
                <a:latin typeface="Noto Sans CJK SC"/>
              </a:rPr>
              <a:t>错误窗口：执行先于确认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2761488"/>
            <a:ext cx="4663440" cy="0"/>
          </a:xfrm>
          <a:prstGeom prst="line">
            <a:avLst/>
          </a:prstGeom>
          <a:ln w="17780">
            <a:solidFill>
              <a:srgbClr val="35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05840" y="2596896"/>
            <a:ext cx="329184" cy="329184"/>
          </a:xfrm>
          <a:prstGeom prst="ellipse">
            <a:avLst/>
          </a:prstGeom>
          <a:solidFill>
            <a:srgbClr val="45C9D6"/>
          </a:solidFill>
          <a:ln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05409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45C9D6"/>
                </a:solidFill>
                <a:latin typeface="Noto Sans CJK SC"/>
              </a:rPr>
              <a:t>执行</a:t>
            </a:r>
          </a:p>
        </p:txBody>
      </p:sp>
      <p:sp>
        <p:nvSpPr>
          <p:cNvPr id="12" name="Oval 11"/>
          <p:cNvSpPr/>
          <p:nvPr/>
        </p:nvSpPr>
        <p:spPr>
          <a:xfrm>
            <a:off x="2240280" y="2596896"/>
            <a:ext cx="329184" cy="329184"/>
          </a:xfrm>
          <a:prstGeom prst="ellipse">
            <a:avLst/>
          </a:prstGeom>
          <a:solidFill>
            <a:srgbClr val="F29D46"/>
          </a:solidFill>
          <a:ln>
            <a:solidFill>
              <a:srgbClr val="F2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9112" y="305409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29D46"/>
                </a:solidFill>
                <a:latin typeface="Noto Sans CJK SC"/>
              </a:rPr>
              <a:t>写入 L1D</a:t>
            </a:r>
          </a:p>
        </p:txBody>
      </p:sp>
      <p:sp>
        <p:nvSpPr>
          <p:cNvPr id="14" name="Oval 13"/>
          <p:cNvSpPr/>
          <p:nvPr/>
        </p:nvSpPr>
        <p:spPr>
          <a:xfrm>
            <a:off x="3611880" y="2596896"/>
            <a:ext cx="329184" cy="329184"/>
          </a:xfrm>
          <a:prstGeom prst="ellipse">
            <a:avLst/>
          </a:prstGeom>
          <a:solidFill>
            <a:srgbClr val="F16865"/>
          </a:solidFill>
          <a:ln>
            <a:solidFill>
              <a:srgbClr val="F16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305409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16865"/>
                </a:solidFill>
                <a:latin typeface="Noto Sans CJK SC"/>
              </a:rPr>
              <a:t>传播</a:t>
            </a:r>
          </a:p>
        </p:txBody>
      </p:sp>
      <p:sp>
        <p:nvSpPr>
          <p:cNvPr id="16" name="Oval 15"/>
          <p:cNvSpPr/>
          <p:nvPr/>
        </p:nvSpPr>
        <p:spPr>
          <a:xfrm>
            <a:off x="5047488" y="2596896"/>
            <a:ext cx="329184" cy="329184"/>
          </a:xfrm>
          <a:prstGeom prst="ellipse">
            <a:avLst/>
          </a:prstGeom>
          <a:solidFill>
            <a:srgbClr val="60CA91"/>
          </a:solidFill>
          <a:ln>
            <a:solidFill>
              <a:srgbClr val="60C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305409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0CA91"/>
                </a:solidFill>
                <a:latin typeface="Noto Sans CJK SC"/>
              </a:rPr>
              <a:t>Rocket 确认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2029968"/>
            <a:ext cx="1143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1F5F8"/>
                </a:solidFill>
                <a:latin typeface="Noto Sans CJK SC"/>
              </a:rPr>
              <a:t>BOOM
issue/execute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2029968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29D46"/>
                </a:solidFill>
                <a:latin typeface="Noto Sans CJK SC"/>
              </a:rPr>
              <a:t>dirty line
形成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6704" y="2029968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16865"/>
                </a:solidFill>
                <a:latin typeface="Noto Sans CJK SC"/>
              </a:rPr>
              <a:t>L2 / 外设
可见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029968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0CA91"/>
                </a:solidFill>
                <a:latin typeface="Noto Sans CJK SC"/>
              </a:rPr>
              <a:t>校验结果
到达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94760"/>
            <a:ext cx="2331720" cy="1417320"/>
          </a:xfrm>
          <a:prstGeom prst="roundRect">
            <a:avLst/>
          </a:prstGeom>
          <a:solidFill>
            <a:srgbClr val="692B30"/>
          </a:solidFill>
          <a:ln w="12700">
            <a:solidFill>
              <a:srgbClr val="F16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3977639"/>
            <a:ext cx="19751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16865"/>
                </a:solidFill>
                <a:latin typeface="Noto Sans CJK SC"/>
              </a:rPr>
              <a:t>没有 Barrier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70832"/>
            <a:ext cx="19476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1F5F8"/>
                </a:solidFill>
                <a:latin typeface="Noto Sans CJK SC"/>
              </a:rPr>
              <a:t>• MMIO Put/Atomic 立即生效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1F5F8"/>
                </a:solidFill>
                <a:latin typeface="Noto Sans CJK SC"/>
              </a:rPr>
              <a:t>• DRAM 写回后难以追回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3794760"/>
            <a:ext cx="2331720" cy="1417320"/>
          </a:xfrm>
          <a:prstGeom prst="roundRect">
            <a:avLst/>
          </a:prstGeom>
          <a:solidFill>
            <a:srgbClr val="71421F"/>
          </a:solidFill>
          <a:ln w="12700">
            <a:solidFill>
              <a:srgbClr val="F2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19856" y="3977639"/>
            <a:ext cx="19751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29D46"/>
                </a:solidFill>
                <a:latin typeface="Noto Sans CJK SC"/>
              </a:rPr>
              <a:t>没有 Rollback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370832"/>
            <a:ext cx="193852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1F5F8"/>
                </a:solidFill>
                <a:latin typeface="Noto Sans CJK SC"/>
              </a:rPr>
              <a:t>• L1D dirty line 保留错误值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1F5F8"/>
                </a:solidFill>
                <a:latin typeface="Noto Sans CJK SC"/>
              </a:rPr>
              <a:t>• CSR / reservation 无法重建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1682496"/>
            <a:ext cx="5413248" cy="4443984"/>
          </a:xfrm>
          <a:prstGeom prst="roundRect">
            <a:avLst/>
          </a:prstGeom>
          <a:solidFill>
            <a:srgbClr val="18222E"/>
          </a:solidFill>
          <a:ln w="1016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193852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1F5F8"/>
                </a:solidFill>
                <a:latin typeface="Noto Sans CJK SC"/>
              </a:rPr>
              <a:t>设计问题应改写为 3 个追问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514600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6865"/>
                </a:solidFill>
                <a:latin typeface="Noto Sans Mono CJK SC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24871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16865"/>
                </a:solidFill>
                <a:latin typeface="Noto Sans CJK SC"/>
              </a:rPr>
              <a:t>改写了什么？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2834640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5B5C1"/>
                </a:solidFill>
                <a:latin typeface="Noto Sans CJK SC"/>
              </a:rPr>
              <a:t>store / SC / AMO / CSR / reservation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46520" y="3264408"/>
            <a:ext cx="4663440" cy="0"/>
          </a:xfrm>
          <a:prstGeom prst="line">
            <a:avLst/>
          </a:prstGeom>
          <a:ln w="10160">
            <a:solidFill>
              <a:srgbClr val="35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46520" y="3502152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29D46"/>
                </a:solidFill>
                <a:latin typeface="Noto Sans Mono CJK SC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34747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9D46"/>
                </a:solidFill>
                <a:latin typeface="Noto Sans CJK SC"/>
              </a:rPr>
              <a:t>沿哪条路径？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3822191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5B5C1"/>
                </a:solidFill>
                <a:latin typeface="Noto Sans CJK SC"/>
              </a:rPr>
              <a:t>L1D → L2 → DRAM  或  IOMSHR → 外设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46520" y="4251960"/>
            <a:ext cx="4663440" cy="0"/>
          </a:xfrm>
          <a:prstGeom prst="line">
            <a:avLst/>
          </a:prstGeom>
          <a:ln w="10160">
            <a:solidFill>
              <a:srgbClr val="35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46520" y="4489704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5C9D6"/>
                </a:solidFill>
                <a:latin typeface="Noto Sans Mono CJK SC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2592" y="44622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5C9D6"/>
                </a:solidFill>
                <a:latin typeface="Noto Sans CJK SC"/>
              </a:rPr>
              <a:t>在哪里止损？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2592" y="4809744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5B5C1"/>
                </a:solidFill>
                <a:latin typeface="Noto Sans CJK SC"/>
              </a:rPr>
              <a:t>Barrier before commit  +  checkpoint / undo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62356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1F5F8"/>
                </a:solidFill>
                <a:latin typeface="Noto Sans CJK SC"/>
              </a:rPr>
              <a:t>正确性目标：error detected  ≠  error escaped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2920" y="6409944"/>
            <a:ext cx="11183112" cy="0"/>
          </a:xfrm>
          <a:prstGeom prst="line">
            <a:avLst/>
          </a:prstGeom>
          <a:ln w="8890">
            <a:solidFill>
              <a:srgbClr val="35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12064" y="64739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A5B5C1"/>
                </a:solidFill>
                <a:latin typeface="Noto Sans Mono CJK SC"/>
              </a:rPr>
              <a:t>Chipyard · BOOM ↔ Rocket · Error recovery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6473952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A5B5C1"/>
                </a:solidFill>
                <a:latin typeface="Noto Sans Mono CJK SC"/>
              </a:rPr>
              <a:t>02 / WHY RECOVERY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2860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5C9D6"/>
                </a:solidFill>
                <a:latin typeface="Noto Sans Mono CJK S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1031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5B5C1"/>
                </a:solidFill>
                <a:latin typeface="Noto Sans Mono CJK SC"/>
              </a:rPr>
              <a:t>LEVEL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521207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1F5F8"/>
                </a:solidFill>
                <a:latin typeface="Noto Sans CJK SC"/>
              </a:rPr>
              <a:t>BOOM 执行过程中：哪些状态对外可见？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" y="1042415"/>
            <a:ext cx="11201400" cy="429768"/>
          </a:xfrm>
          <a:prstGeom prst="roundRect">
            <a:avLst/>
          </a:prstGeom>
          <a:solidFill>
            <a:srgbClr val="185766"/>
          </a:solidFill>
          <a:ln w="6350">
            <a:solidFill>
              <a:srgbClr val="185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097280"/>
            <a:ext cx="108356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1F5F8"/>
                </a:solidFill>
                <a:latin typeface="Noto Sans CJK SC"/>
              </a:rPr>
              <a:t>核心观点  重点不是所有输出，而是能改变系统可观察状态的操作。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28600"/>
            <a:ext cx="7040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60" b="0" i="0">
                <a:solidFill>
                  <a:srgbClr val="A5B5C1"/>
                </a:solidFill>
                <a:latin typeface="Noto Sans Mono CJK SC"/>
              </a:rPr>
              <a:t>REF · Method/boom_dataflow_analysis.typ:164–190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01184" y="2770632"/>
            <a:ext cx="2395728" cy="1024128"/>
          </a:xfrm>
          <a:prstGeom prst="roundRect">
            <a:avLst/>
          </a:prstGeom>
          <a:solidFill>
            <a:srgbClr val="1F2B39"/>
          </a:solidFill>
          <a:ln w="1397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01184" y="2770632"/>
            <a:ext cx="64008" cy="1024128"/>
          </a:xfrm>
          <a:prstGeom prst="rect">
            <a:avLst/>
          </a:prstGeom>
          <a:solidFill>
            <a:srgbClr val="45C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889503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1F5F8"/>
                </a:solidFill>
                <a:latin typeface="Noto Sans CJK SC"/>
              </a:rPr>
              <a:t>BOOM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209544"/>
            <a:ext cx="213969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CJK SC"/>
              </a:rPr>
              <a:t>ROB / LSU / CSR / L1D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737360"/>
            <a:ext cx="3246120" cy="822960"/>
          </a:xfrm>
          <a:prstGeom prst="roundRect">
            <a:avLst/>
          </a:prstGeom>
          <a:solidFill>
            <a:srgbClr val="18222E"/>
          </a:solidFill>
          <a:ln w="1397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1737360"/>
            <a:ext cx="64008" cy="822960"/>
          </a:xfrm>
          <a:prstGeom prst="rect">
            <a:avLst/>
          </a:prstGeom>
          <a:solidFill>
            <a:srgbClr val="45C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1856231"/>
            <a:ext cx="299008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1F5F8"/>
                </a:solidFill>
                <a:latin typeface="Noto Sans CJK SC"/>
              </a:rPr>
              <a:t>校验 packet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176272"/>
            <a:ext cx="299008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CJK SC"/>
              </a:rPr>
              <a:t>执行结果 · load/store 信息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77639" y="2148840"/>
            <a:ext cx="822961" cy="1097280"/>
          </a:xfrm>
          <a:prstGeom prst="line">
            <a:avLst/>
          </a:prstGeom>
          <a:ln w="19050">
            <a:solidFill>
              <a:srgbClr val="45C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3232" y="3063240"/>
            <a:ext cx="3246120" cy="822960"/>
          </a:xfrm>
          <a:prstGeom prst="roundRect">
            <a:avLst/>
          </a:prstGeom>
          <a:solidFill>
            <a:srgbClr val="18222E"/>
          </a:solidFill>
          <a:ln w="13970">
            <a:solidFill>
              <a:srgbClr val="F2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063240"/>
            <a:ext cx="64008" cy="822960"/>
          </a:xfrm>
          <a:prstGeom prst="rect">
            <a:avLst/>
          </a:prstGeom>
          <a:solidFill>
            <a:srgbClr val="F29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182112"/>
            <a:ext cx="299008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1F5F8"/>
                </a:solidFill>
                <a:latin typeface="Noto Sans CJK SC"/>
              </a:rPr>
              <a:t>Memory side effect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502152"/>
            <a:ext cx="299008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CJK SC"/>
              </a:rPr>
              <a:t>Store · Load · SC · LR · AMO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3977639" y="3246120"/>
            <a:ext cx="822961" cy="228600"/>
          </a:xfrm>
          <a:prstGeom prst="line">
            <a:avLst/>
          </a:prstGeom>
          <a:ln w="19050">
            <a:solidFill>
              <a:srgbClr val="F29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13232" y="4389120"/>
            <a:ext cx="3246120" cy="822960"/>
          </a:xfrm>
          <a:prstGeom prst="roundRect">
            <a:avLst/>
          </a:prstGeom>
          <a:solidFill>
            <a:srgbClr val="18222E"/>
          </a:solidFill>
          <a:ln w="13970">
            <a:solidFill>
              <a:srgbClr val="EFC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389120"/>
            <a:ext cx="64008" cy="822960"/>
          </a:xfrm>
          <a:prstGeom prst="rect">
            <a:avLst/>
          </a:prstGeom>
          <a:solidFill>
            <a:srgbClr val="EF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507992"/>
            <a:ext cx="299008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1F5F8"/>
                </a:solidFill>
                <a:latin typeface="Noto Sans CJK SC"/>
              </a:rPr>
              <a:t>Architectural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828031"/>
            <a:ext cx="299008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CJK SC"/>
              </a:rPr>
              <a:t>CSR · privilege · register state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3977639" y="3246120"/>
            <a:ext cx="822961" cy="1554480"/>
          </a:xfrm>
          <a:prstGeom prst="line">
            <a:avLst/>
          </a:prstGeom>
          <a:ln w="19050">
            <a:solidFill>
              <a:srgbClr val="EFC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247888" y="1965960"/>
            <a:ext cx="3108960" cy="822960"/>
          </a:xfrm>
          <a:prstGeom prst="roundRect">
            <a:avLst/>
          </a:prstGeom>
          <a:solidFill>
            <a:srgbClr val="18222E"/>
          </a:solidFill>
          <a:ln w="13970">
            <a:solidFill>
              <a:srgbClr val="60C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47888" y="1965960"/>
            <a:ext cx="64008" cy="822960"/>
          </a:xfrm>
          <a:prstGeom prst="rect">
            <a:avLst/>
          </a:prstGeom>
          <a:solidFill>
            <a:srgbClr val="60C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5904" y="2084831"/>
            <a:ext cx="28529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1F5F8"/>
                </a:solidFill>
                <a:latin typeface="Noto Sans CJK SC"/>
              </a:rPr>
              <a:t>Rocket checker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2404872"/>
            <a:ext cx="2852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CJK SC"/>
              </a:rPr>
              <a:t>比较 / 重放 / 通过或拒绝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7388352" y="2377440"/>
            <a:ext cx="768096" cy="868680"/>
          </a:xfrm>
          <a:prstGeom prst="line">
            <a:avLst/>
          </a:prstGeom>
          <a:ln w="19050">
            <a:solidFill>
              <a:srgbClr val="60C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247888" y="3383280"/>
            <a:ext cx="3108960" cy="822960"/>
          </a:xfrm>
          <a:prstGeom prst="roundRect">
            <a:avLst/>
          </a:prstGeom>
          <a:solidFill>
            <a:srgbClr val="18222E"/>
          </a:solidFill>
          <a:ln w="13970">
            <a:solidFill>
              <a:srgbClr val="F2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47888" y="3383280"/>
            <a:ext cx="64008" cy="822960"/>
          </a:xfrm>
          <a:prstGeom prst="rect">
            <a:avLst/>
          </a:prstGeom>
          <a:solidFill>
            <a:srgbClr val="F29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75904" y="3502152"/>
            <a:ext cx="28529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1F5F8"/>
                </a:solidFill>
                <a:latin typeface="Noto Sans CJK SC"/>
              </a:rPr>
              <a:t>Memory hierarchy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3822191"/>
            <a:ext cx="2852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CJK SC"/>
              </a:rPr>
              <a:t>L1D → L2 → DRAM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88352" y="3246120"/>
            <a:ext cx="768096" cy="548640"/>
          </a:xfrm>
          <a:prstGeom prst="line">
            <a:avLst/>
          </a:prstGeom>
          <a:ln w="19050">
            <a:solidFill>
              <a:srgbClr val="F29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247888" y="4663440"/>
            <a:ext cx="3108960" cy="822960"/>
          </a:xfrm>
          <a:prstGeom prst="roundRect">
            <a:avLst/>
          </a:prstGeom>
          <a:solidFill>
            <a:srgbClr val="18222E"/>
          </a:solidFill>
          <a:ln w="13970">
            <a:solidFill>
              <a:srgbClr val="F16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47888" y="4663440"/>
            <a:ext cx="64008" cy="822960"/>
          </a:xfrm>
          <a:prstGeom prst="rect">
            <a:avLst/>
          </a:prstGeom>
          <a:solidFill>
            <a:srgbClr val="F16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75904" y="4782312"/>
            <a:ext cx="28529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1F5F8"/>
                </a:solidFill>
                <a:latin typeface="Noto Sans CJK SC"/>
              </a:rPr>
              <a:t>外设 / MMIO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5904" y="5102352"/>
            <a:ext cx="2852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CJK SC"/>
              </a:rPr>
              <a:t>不可缓存、不可逆副作用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388352" y="3246120"/>
            <a:ext cx="768096" cy="1828800"/>
          </a:xfrm>
          <a:prstGeom prst="line">
            <a:avLst/>
          </a:prstGeom>
          <a:ln w="19050">
            <a:solidFill>
              <a:srgbClr val="F168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13232" y="5687568"/>
            <a:ext cx="1024128" cy="246888"/>
          </a:xfrm>
          <a:prstGeom prst="roundRect">
            <a:avLst/>
          </a:prstGeom>
          <a:solidFill>
            <a:srgbClr val="45C9D6"/>
          </a:solidFill>
          <a:ln w="635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5696712"/>
            <a:ext cx="1024128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0D141D"/>
                </a:solidFill>
                <a:latin typeface="Noto Sans CJK SC"/>
              </a:rPr>
              <a:t>校验路径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569671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CJK SC"/>
              </a:rPr>
              <a:t>可比较，但不等于已提交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5687568"/>
            <a:ext cx="1143000" cy="246888"/>
          </a:xfrm>
          <a:prstGeom prst="roundRect">
            <a:avLst/>
          </a:prstGeom>
          <a:solidFill>
            <a:srgbClr val="F29D46"/>
          </a:solidFill>
          <a:ln w="6350">
            <a:solidFill>
              <a:srgbClr val="F2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5696712"/>
            <a:ext cx="1143000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0D141D"/>
                </a:solidFill>
                <a:latin typeface="Noto Sans CJK SC"/>
              </a:rPr>
              <a:t>缓存路径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13832" y="569671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CJK SC"/>
              </a:rPr>
              <a:t>先行可隐藏，外发必须受控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82712" y="5687568"/>
            <a:ext cx="1078992" cy="246888"/>
          </a:xfrm>
          <a:prstGeom prst="roundRect">
            <a:avLst/>
          </a:prstGeom>
          <a:solidFill>
            <a:srgbClr val="F16865"/>
          </a:solidFill>
          <a:ln w="6350">
            <a:solidFill>
              <a:srgbClr val="F16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82712" y="5696712"/>
            <a:ext cx="1078992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900" b="1" i="0">
                <a:solidFill>
                  <a:srgbClr val="0D141D"/>
                </a:solidFill>
                <a:latin typeface="Noto Sans CJK SC"/>
              </a:rPr>
              <a:t>外设路径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25712" y="56967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CJK SC"/>
              </a:rPr>
              <a:t>一旦到达，通常不可回滚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02920" y="6409944"/>
            <a:ext cx="11183112" cy="0"/>
          </a:xfrm>
          <a:prstGeom prst="line">
            <a:avLst/>
          </a:prstGeom>
          <a:ln w="8890">
            <a:solidFill>
              <a:srgbClr val="35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12064" y="64739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A5B5C1"/>
                </a:solidFill>
                <a:latin typeface="Noto Sans Mono CJK SC"/>
              </a:rPr>
              <a:t>Chipyard · BOOM ↔ Rocket · Error recovery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6473952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A5B5C1"/>
                </a:solidFill>
                <a:latin typeface="Noto Sans Mono CJK SC"/>
              </a:rPr>
              <a:t>03 / OBSERVABLE STATE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2860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5C9D6"/>
                </a:solidFill>
                <a:latin typeface="Noto Sans Mono CJK S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1031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5B5C1"/>
                </a:solidFill>
                <a:latin typeface="Noto Sans Mono CJK SC"/>
              </a:rPr>
              <a:t>PROPAGATION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521207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1F5F8"/>
                </a:solidFill>
                <a:latin typeface="Noto Sans CJK SC"/>
              </a:rPr>
              <a:t>错误传播路径：从 BOOM 到外部世界的四层模型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" y="1042415"/>
            <a:ext cx="11201400" cy="429768"/>
          </a:xfrm>
          <a:prstGeom prst="roundRect">
            <a:avLst/>
          </a:prstGeom>
          <a:solidFill>
            <a:srgbClr val="185766"/>
          </a:solidFill>
          <a:ln w="6350">
            <a:solidFill>
              <a:srgbClr val="185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097280"/>
            <a:ext cx="108356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1F5F8"/>
                </a:solidFill>
                <a:latin typeface="Noto Sans CJK SC"/>
              </a:rPr>
              <a:t>核心观点  每跨过一层边界，恢复成本上升；外设是最外层、最难逆转的屏障。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28600"/>
            <a:ext cx="7040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60" b="0" i="0">
                <a:solidFill>
                  <a:srgbClr val="A5B5C1"/>
                </a:solidFill>
                <a:latin typeface="Noto Sans Mono CJK SC"/>
              </a:rPr>
              <a:t>REF · Method/boom_dataflow_analysis.typ:132–162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09928"/>
            <a:ext cx="10680192" cy="749808"/>
          </a:xfrm>
          <a:prstGeom prst="roundRect">
            <a:avLst/>
          </a:prstGeom>
          <a:solidFill>
            <a:srgbClr val="18222E"/>
          </a:solidFill>
          <a:ln w="1397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956816"/>
            <a:ext cx="530352" cy="246888"/>
          </a:xfrm>
          <a:prstGeom prst="roundRect">
            <a:avLst/>
          </a:prstGeom>
          <a:solidFill>
            <a:srgbClr val="45C9D6"/>
          </a:solidFill>
          <a:ln w="635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60"/>
            <a:ext cx="530352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D141D"/>
                </a:solidFill>
                <a:latin typeface="Noto Sans CJK SC"/>
              </a:rPr>
              <a:t>L0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828800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5C9D6"/>
                </a:solidFill>
                <a:latin typeface="Noto Sans CJK SC"/>
              </a:rPr>
              <a:t>BOOM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1" y="1847088"/>
            <a:ext cx="7187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1F5F8"/>
                </a:solidFill>
                <a:latin typeface="Noto Sans CJK SC"/>
              </a:rPr>
              <a:t>待校验 packet · store/load/SC/LR/AMO · CSR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2468880"/>
            <a:ext cx="0" cy="228600"/>
          </a:xfrm>
          <a:prstGeom prst="line">
            <a:avLst/>
          </a:prstGeom>
          <a:ln w="17780">
            <a:solidFill>
              <a:srgbClr val="45C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92440" y="2478024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A5B5C1"/>
                </a:solidFill>
                <a:latin typeface="Noto Sans Mono CJK SC"/>
              </a:rPr>
              <a:t>边界成本 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734056"/>
            <a:ext cx="10680192" cy="749808"/>
          </a:xfrm>
          <a:prstGeom prst="roundRect">
            <a:avLst/>
          </a:prstGeom>
          <a:solidFill>
            <a:srgbClr val="18222E"/>
          </a:solidFill>
          <a:ln w="13970">
            <a:solidFill>
              <a:srgbClr val="F2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2980944"/>
            <a:ext cx="530352" cy="246888"/>
          </a:xfrm>
          <a:prstGeom prst="roundRect">
            <a:avLst/>
          </a:prstGeom>
          <a:solidFill>
            <a:srgbClr val="F29D46"/>
          </a:solidFill>
          <a:ln w="6350">
            <a:solidFill>
              <a:srgbClr val="F2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990088"/>
            <a:ext cx="530352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D141D"/>
                </a:solidFill>
                <a:latin typeface="Noto Sans CJK SC"/>
              </a:rPr>
              <a:t>L1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852928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9D46"/>
                </a:solidFill>
                <a:latin typeface="Noto Sans CJK SC"/>
              </a:rPr>
              <a:t>Tile-local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2191" y="2871216"/>
            <a:ext cx="7187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1F5F8"/>
                </a:solidFill>
                <a:latin typeface="Noto Sans CJK SC"/>
              </a:rPr>
              <a:t>L1D data/metadata · MSHR · IOMSHR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3493008"/>
            <a:ext cx="0" cy="228600"/>
          </a:xfrm>
          <a:prstGeom prst="line">
            <a:avLst/>
          </a:prstGeom>
          <a:ln w="17780">
            <a:solidFill>
              <a:srgbClr val="F29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092440" y="350215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A5B5C1"/>
                </a:solidFill>
                <a:latin typeface="Noto Sans Mono CJK SC"/>
              </a:rPr>
              <a:t>边界成本 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758184"/>
            <a:ext cx="10680192" cy="749808"/>
          </a:xfrm>
          <a:prstGeom prst="roundRect">
            <a:avLst/>
          </a:prstGeom>
          <a:solidFill>
            <a:srgbClr val="18222E"/>
          </a:solidFill>
          <a:ln w="13970">
            <a:solidFill>
              <a:srgbClr val="F2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2688" y="4005072"/>
            <a:ext cx="530352" cy="246888"/>
          </a:xfrm>
          <a:prstGeom prst="roundRect">
            <a:avLst/>
          </a:prstGeom>
          <a:solidFill>
            <a:srgbClr val="F29D46"/>
          </a:solidFill>
          <a:ln w="6350">
            <a:solidFill>
              <a:srgbClr val="F2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014216"/>
            <a:ext cx="530352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D141D"/>
                </a:solidFill>
                <a:latin typeface="Noto Sans CJK SC"/>
              </a:rPr>
              <a:t>L2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877056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9D46"/>
                </a:solidFill>
                <a:latin typeface="Noto Sans CJK SC"/>
              </a:rPr>
              <a:t>Shared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22191" y="3895344"/>
            <a:ext cx="7187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1F5F8"/>
                </a:solidFill>
                <a:latin typeface="Noto Sans CJK SC"/>
              </a:rPr>
              <a:t>L2 coherence · SBUS/CBUS/PBUS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80760" y="4517136"/>
            <a:ext cx="0" cy="228600"/>
          </a:xfrm>
          <a:prstGeom prst="line">
            <a:avLst/>
          </a:prstGeom>
          <a:ln w="17780">
            <a:solidFill>
              <a:srgbClr val="F29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092440" y="45262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A5B5C1"/>
                </a:solidFill>
                <a:latin typeface="Noto Sans Mono CJK SC"/>
              </a:rPr>
              <a:t>边界成本 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4782312"/>
            <a:ext cx="10680192" cy="749808"/>
          </a:xfrm>
          <a:prstGeom prst="roundRect">
            <a:avLst/>
          </a:prstGeom>
          <a:solidFill>
            <a:srgbClr val="692B30"/>
          </a:solidFill>
          <a:ln w="13970">
            <a:solidFill>
              <a:srgbClr val="F16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2688" y="5029200"/>
            <a:ext cx="530352" cy="246888"/>
          </a:xfrm>
          <a:prstGeom prst="roundRect">
            <a:avLst/>
          </a:prstGeom>
          <a:solidFill>
            <a:srgbClr val="F16865"/>
          </a:solidFill>
          <a:ln w="6350">
            <a:solidFill>
              <a:srgbClr val="F16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038344"/>
            <a:ext cx="530352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D141D"/>
                </a:solidFill>
                <a:latin typeface="Noto Sans CJK SC"/>
              </a:rPr>
              <a:t>L3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4901184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16865"/>
                </a:solidFill>
                <a:latin typeface="Noto Sans CJK SC"/>
              </a:rPr>
              <a:t>System outside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22191" y="4919472"/>
            <a:ext cx="7187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1F5F8"/>
                </a:solidFill>
                <a:latin typeface="Noto Sans CJK SC"/>
              </a:rPr>
              <a:t>DRAM · UART · CLINT/PLIC · external device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76688" y="1865376"/>
            <a:ext cx="1051560" cy="438912"/>
          </a:xfrm>
          <a:prstGeom prst="roundRect">
            <a:avLst/>
          </a:prstGeom>
          <a:solidFill>
            <a:srgbClr val="185766"/>
          </a:solidFill>
          <a:ln w="1016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22408" y="195681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45C9D6"/>
                </a:solidFill>
                <a:latin typeface="Noto Sans CJK SC"/>
              </a:rPr>
              <a:t>check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76688" y="3913632"/>
            <a:ext cx="1051560" cy="438912"/>
          </a:xfrm>
          <a:prstGeom prst="roundRect">
            <a:avLst/>
          </a:prstGeom>
          <a:solidFill>
            <a:srgbClr val="692B30"/>
          </a:solidFill>
          <a:ln w="10160">
            <a:solidFill>
              <a:srgbClr val="F16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3264" y="4005072"/>
            <a:ext cx="9784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16865"/>
                </a:solidFill>
                <a:latin typeface="Noto Sans CJK SC"/>
              </a:rPr>
              <a:t>barrier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5989320"/>
            <a:ext cx="10680192" cy="310896"/>
          </a:xfrm>
          <a:prstGeom prst="roundRect">
            <a:avLst/>
          </a:prstGeom>
          <a:solidFill>
            <a:srgbClr val="1F2B39"/>
          </a:solidFill>
          <a:ln w="635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6035040"/>
            <a:ext cx="10241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30" b="0" i="0">
                <a:solidFill>
                  <a:srgbClr val="F1F5F8"/>
                </a:solidFill>
                <a:latin typeface="Noto Sans Mono CJK SC"/>
              </a:rPr>
              <a:t>关键判断点：dmem.req.fire → data-array write → C Release/ProbeAckData → L2 writeback → AXI W/B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409944"/>
            <a:ext cx="11183112" cy="0"/>
          </a:xfrm>
          <a:prstGeom prst="line">
            <a:avLst/>
          </a:prstGeom>
          <a:ln w="8890">
            <a:solidFill>
              <a:srgbClr val="35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12064" y="64739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A5B5C1"/>
                </a:solidFill>
                <a:latin typeface="Noto Sans Mono CJK SC"/>
              </a:rPr>
              <a:t>Chipyard · BOOM ↔ Rocket · Error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6473952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A5B5C1"/>
                </a:solidFill>
                <a:latin typeface="Noto Sans Mono CJK SC"/>
              </a:rPr>
              <a:t>04 / PROPAGATION 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2860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5C9D6"/>
                </a:solidFill>
                <a:latin typeface="Noto Sans Mono CJK S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1031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5B5C1"/>
                </a:solidFill>
                <a:latin typeface="Noto Sans Mono CJK SC"/>
              </a:rPr>
              <a:t>MEMORY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521207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1F5F8"/>
                </a:solidFill>
                <a:latin typeface="Noto Sans CJK SC"/>
              </a:rPr>
              <a:t>Memory Hierarchy 中：同一条 store 如何越过屏障？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" y="1042415"/>
            <a:ext cx="11201400" cy="429768"/>
          </a:xfrm>
          <a:prstGeom prst="roundRect">
            <a:avLst/>
          </a:prstGeom>
          <a:solidFill>
            <a:srgbClr val="185766"/>
          </a:solidFill>
          <a:ln w="6350">
            <a:solidFill>
              <a:srgbClr val="185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097280"/>
            <a:ext cx="108356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1F5F8"/>
                </a:solidFill>
                <a:latin typeface="Noto Sans CJK SC"/>
              </a:rPr>
              <a:t>核心观点  cacheable 写入可以暂存在层次内部；uncacheable 写入在 A 通道前必须 gate。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28600"/>
            <a:ext cx="7040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60" b="0" i="0">
                <a:solidFill>
                  <a:srgbClr val="A5B5C1"/>
                </a:solidFill>
                <a:latin typeface="Noto Sans Mono CJK SC"/>
              </a:rPr>
              <a:t>REF · Method/boom_dataflow_analysis.typ:287–412；Method/boom_traffic_statistics.typ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5212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9D46"/>
                </a:solidFill>
                <a:latin typeface="Noto Sans CJK SC"/>
              </a:rPr>
              <a:t>A. Cacheable：可隐藏，但不能任其外发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139696"/>
            <a:ext cx="1298448" cy="585216"/>
          </a:xfrm>
          <a:prstGeom prst="roundRect">
            <a:avLst/>
          </a:prstGeom>
          <a:solidFill>
            <a:srgbClr val="18222E"/>
          </a:solidFill>
          <a:ln w="1397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139696"/>
            <a:ext cx="64008" cy="585216"/>
          </a:xfrm>
          <a:prstGeom prst="rect">
            <a:avLst/>
          </a:prstGeom>
          <a:solidFill>
            <a:srgbClr val="45C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258568"/>
            <a:ext cx="10424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1F5F8"/>
                </a:solidFill>
                <a:latin typeface="Noto Sans CJK SC"/>
              </a:rPr>
              <a:t>STQ / LSU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9152" y="2139696"/>
            <a:ext cx="1325880" cy="585216"/>
          </a:xfrm>
          <a:prstGeom prst="roundRect">
            <a:avLst/>
          </a:prstGeom>
          <a:solidFill>
            <a:srgbClr val="18222E"/>
          </a:solidFill>
          <a:ln w="13970">
            <a:solidFill>
              <a:srgbClr val="F2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59152" y="2139696"/>
            <a:ext cx="64008" cy="585216"/>
          </a:xfrm>
          <a:prstGeom prst="rect">
            <a:avLst/>
          </a:prstGeom>
          <a:solidFill>
            <a:srgbClr val="F29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7168" y="2258568"/>
            <a:ext cx="10698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1F5F8"/>
                </a:solidFill>
                <a:latin typeface="Noto Sans CJK SC"/>
              </a:rPr>
              <a:t>L1D
data array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2139696"/>
            <a:ext cx="1508760" cy="585216"/>
          </a:xfrm>
          <a:prstGeom prst="roundRect">
            <a:avLst/>
          </a:prstGeom>
          <a:solidFill>
            <a:srgbClr val="18222E"/>
          </a:solidFill>
          <a:ln w="13970">
            <a:solidFill>
              <a:srgbClr val="F2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7639" y="2139696"/>
            <a:ext cx="64008" cy="585216"/>
          </a:xfrm>
          <a:prstGeom prst="rect">
            <a:avLst/>
          </a:prstGeom>
          <a:solidFill>
            <a:srgbClr val="F29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05655" y="2258568"/>
            <a:ext cx="12527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1F5F8"/>
                </a:solidFill>
                <a:latin typeface="Noto Sans CJK SC"/>
              </a:rPr>
              <a:t>C channel
Release/ProbeAckData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88152" y="2139696"/>
            <a:ext cx="1115568" cy="585216"/>
          </a:xfrm>
          <a:prstGeom prst="roundRect">
            <a:avLst/>
          </a:prstGeom>
          <a:solidFill>
            <a:srgbClr val="18222E"/>
          </a:solidFill>
          <a:ln w="13970">
            <a:solidFill>
              <a:srgbClr val="F2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88152" y="2139696"/>
            <a:ext cx="64008" cy="585216"/>
          </a:xfrm>
          <a:prstGeom prst="rect">
            <a:avLst/>
          </a:prstGeom>
          <a:solidFill>
            <a:srgbClr val="F29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16168" y="2258568"/>
            <a:ext cx="8595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1F5F8"/>
                </a:solidFill>
                <a:latin typeface="Noto Sans CJK SC"/>
              </a:rPr>
              <a:t>L2
shared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2139696"/>
            <a:ext cx="1005840" cy="585216"/>
          </a:xfrm>
          <a:prstGeom prst="roundRect">
            <a:avLst/>
          </a:prstGeom>
          <a:solidFill>
            <a:srgbClr val="18222E"/>
          </a:solidFill>
          <a:ln w="13970">
            <a:solidFill>
              <a:srgbClr val="F16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0" y="2139696"/>
            <a:ext cx="64008" cy="585216"/>
          </a:xfrm>
          <a:prstGeom prst="rect">
            <a:avLst/>
          </a:prstGeom>
          <a:solidFill>
            <a:srgbClr val="F16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6" y="2258568"/>
            <a:ext cx="7498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1F5F8"/>
                </a:solidFill>
                <a:latin typeface="Noto Sans CJK SC"/>
              </a:rPr>
              <a:t>DRAM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75688" y="2432304"/>
            <a:ext cx="219456" cy="0"/>
          </a:xfrm>
          <a:prstGeom prst="line">
            <a:avLst/>
          </a:prstGeom>
          <a:ln w="22860">
            <a:solidFill>
              <a:srgbClr val="45C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703320" y="2432304"/>
            <a:ext cx="210312" cy="0"/>
          </a:xfrm>
          <a:prstGeom prst="line">
            <a:avLst/>
          </a:prstGeom>
          <a:ln w="22860">
            <a:solidFill>
              <a:srgbClr val="F29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486400" y="2432304"/>
            <a:ext cx="246888" cy="0"/>
          </a:xfrm>
          <a:prstGeom prst="line">
            <a:avLst/>
          </a:prstGeom>
          <a:ln w="22860">
            <a:solidFill>
              <a:srgbClr val="F29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49440" y="2432304"/>
            <a:ext cx="219456" cy="0"/>
          </a:xfrm>
          <a:prstGeom prst="line">
            <a:avLst/>
          </a:prstGeom>
          <a:ln w="22860">
            <a:solidFill>
              <a:srgbClr val="F168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157984" y="3145536"/>
            <a:ext cx="5029200" cy="566928"/>
          </a:xfrm>
          <a:prstGeom prst="roundRect">
            <a:avLst/>
          </a:prstGeom>
          <a:solidFill>
            <a:srgbClr val="71421F"/>
          </a:solidFill>
          <a:ln w="10160">
            <a:solidFill>
              <a:srgbClr val="F2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40864" y="3300984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1F5F8"/>
                </a:solidFill>
                <a:latin typeface="Noto Sans CJK SC"/>
              </a:rPr>
              <a:t>未确认 dirty line：允许留在 L1D，禁止 Release / Probe 外发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3886200"/>
            <a:ext cx="7589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5B5C1"/>
                </a:solidFill>
                <a:latin typeface="Noto Sans Mono CJK SC"/>
              </a:rPr>
              <a:t>控制点：line timestamp / epoch + byte mask + eviction / Probe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7928" y="166420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16865"/>
                </a:solidFill>
                <a:latin typeface="Noto Sans CJK SC"/>
              </a:rPr>
              <a:t>B. Uncacheable：外设前的硬屏障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67928" y="2139696"/>
            <a:ext cx="1024128" cy="585216"/>
          </a:xfrm>
          <a:prstGeom prst="roundRect">
            <a:avLst/>
          </a:prstGeom>
          <a:solidFill>
            <a:srgbClr val="18222E"/>
          </a:solidFill>
          <a:ln w="1397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67928" y="2139696"/>
            <a:ext cx="64008" cy="585216"/>
          </a:xfrm>
          <a:prstGeom prst="rect">
            <a:avLst/>
          </a:prstGeom>
          <a:solidFill>
            <a:srgbClr val="45C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95944" y="2258568"/>
            <a:ext cx="7680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1F5F8"/>
                </a:solidFill>
                <a:latin typeface="Noto Sans CJK SC"/>
              </a:rPr>
              <a:t>STQ / LSU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11512" y="2139696"/>
            <a:ext cx="987552" cy="585216"/>
          </a:xfrm>
          <a:prstGeom prst="roundRect">
            <a:avLst/>
          </a:prstGeom>
          <a:solidFill>
            <a:srgbClr val="18222E"/>
          </a:solidFill>
          <a:ln w="13970">
            <a:solidFill>
              <a:srgbClr val="F16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11512" y="2139696"/>
            <a:ext cx="64008" cy="585216"/>
          </a:xfrm>
          <a:prstGeom prst="rect">
            <a:avLst/>
          </a:prstGeom>
          <a:solidFill>
            <a:srgbClr val="F16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39528" y="225856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1F5F8"/>
                </a:solidFill>
                <a:latin typeface="Noto Sans CJK SC"/>
              </a:rPr>
              <a:t>IOMSHR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3154680"/>
            <a:ext cx="1325880" cy="585216"/>
          </a:xfrm>
          <a:prstGeom prst="roundRect">
            <a:avLst/>
          </a:prstGeom>
          <a:solidFill>
            <a:srgbClr val="18222E"/>
          </a:solidFill>
          <a:ln w="13970">
            <a:solidFill>
              <a:srgbClr val="F16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52560" y="3154680"/>
            <a:ext cx="64008" cy="585216"/>
          </a:xfrm>
          <a:prstGeom prst="rect">
            <a:avLst/>
          </a:prstGeom>
          <a:solidFill>
            <a:srgbClr val="F16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0576" y="3273552"/>
            <a:ext cx="10698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1F5F8"/>
                </a:solidFill>
                <a:latin typeface="Noto Sans CJK SC"/>
              </a:rPr>
              <a:t>A channel
Put / Atomic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652760" y="3154680"/>
            <a:ext cx="749808" cy="585216"/>
          </a:xfrm>
          <a:prstGeom prst="roundRect">
            <a:avLst/>
          </a:prstGeom>
          <a:solidFill>
            <a:srgbClr val="18222E"/>
          </a:solidFill>
          <a:ln w="13970">
            <a:solidFill>
              <a:srgbClr val="F16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652760" y="3154680"/>
            <a:ext cx="64008" cy="585216"/>
          </a:xfrm>
          <a:prstGeom prst="rect">
            <a:avLst/>
          </a:prstGeom>
          <a:solidFill>
            <a:srgbClr val="F16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80776" y="3273552"/>
            <a:ext cx="49377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1F5F8"/>
                </a:solidFill>
                <a:latin typeface="Noto Sans CJK SC"/>
              </a:rPr>
              <a:t>外设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0776" y="3593592"/>
            <a:ext cx="493775" cy="91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CJK SC"/>
              </a:rPr>
              <a:t>UART / PLIC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610344" y="2432304"/>
            <a:ext cx="128016" cy="0"/>
          </a:xfrm>
          <a:prstGeom prst="line">
            <a:avLst/>
          </a:prstGeom>
          <a:ln w="22860">
            <a:solidFill>
              <a:srgbClr val="F168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0012680" y="2734056"/>
            <a:ext cx="292608" cy="374904"/>
          </a:xfrm>
          <a:prstGeom prst="line">
            <a:avLst/>
          </a:prstGeom>
          <a:ln w="22860">
            <a:solidFill>
              <a:srgbClr val="F168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378440" y="3447288"/>
            <a:ext cx="201168" cy="0"/>
          </a:xfrm>
          <a:prstGeom prst="line">
            <a:avLst/>
          </a:prstGeom>
          <a:ln w="22860">
            <a:solidFill>
              <a:srgbClr val="F168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732520" y="4169663"/>
            <a:ext cx="2532888" cy="822960"/>
          </a:xfrm>
          <a:prstGeom prst="roundRect">
            <a:avLst/>
          </a:prstGeom>
          <a:solidFill>
            <a:srgbClr val="692B30"/>
          </a:solidFill>
          <a:ln w="12700">
            <a:solidFill>
              <a:srgbClr val="F16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69680" y="4306824"/>
            <a:ext cx="2267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16865"/>
                </a:solidFill>
                <a:latin typeface="Noto Sans CJK SC"/>
              </a:rPr>
              <a:t>Barrier before commit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7968" y="4645152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 i="0">
                <a:solidFill>
                  <a:srgbClr val="F1F5F8"/>
                </a:solidFill>
                <a:latin typeface="Noto Sans CJK SC"/>
              </a:rPr>
              <a:t>等待 Rocket 通过后再发 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31936" y="5321808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0" i="0">
                <a:solidFill>
                  <a:srgbClr val="A5B5C1"/>
                </a:solidFill>
                <a:latin typeface="Noto Sans CJK SC"/>
              </a:rPr>
              <a:t>MMIO 一旦被 manager 接收，
core rollback 无法撤回设备副作用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9808" y="5120640"/>
            <a:ext cx="7543800" cy="749808"/>
          </a:xfrm>
          <a:prstGeom prst="roundRect">
            <a:avLst/>
          </a:prstGeom>
          <a:solidFill>
            <a:srgbClr val="1F2B39"/>
          </a:solidFill>
          <a:ln w="889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5294376"/>
            <a:ext cx="72054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1F5F8"/>
                </a:solidFill>
                <a:latin typeface="Noto Sans CJK SC"/>
              </a:rPr>
              <a:t>统计口径：`dmem_req_fire` = 指令请求；`dataWriteArb.fire` = L1D 真正修改；`tl_out.c.fire` = cache line 开始外发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02920" y="6409944"/>
            <a:ext cx="11183112" cy="0"/>
          </a:xfrm>
          <a:prstGeom prst="line">
            <a:avLst/>
          </a:prstGeom>
          <a:ln w="8890">
            <a:solidFill>
              <a:srgbClr val="35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12064" y="64739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A5B5C1"/>
                </a:solidFill>
                <a:latin typeface="Noto Sans Mono CJK SC"/>
              </a:rPr>
              <a:t>Chipyard · BOOM ↔ Rocket · Error recovery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6473952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A5B5C1"/>
                </a:solidFill>
                <a:latin typeface="Noto Sans Mono CJK SC"/>
              </a:rPr>
              <a:t>05 / MEMORY HIERARCHY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2860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5C9D6"/>
                </a:solidFill>
                <a:latin typeface="Noto Sans Mono CJK SC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1031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5B5C1"/>
                </a:solidFill>
                <a:latin typeface="Noto Sans Mono CJK SC"/>
              </a:rPr>
              <a:t>ROLLBACK DIFFICULTY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521207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1F5F8"/>
                </a:solidFill>
                <a:latin typeface="Noto Sans CJK SC"/>
              </a:rPr>
              <a:t>五级恢复难度：从不可提前写出到无影响操作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" y="1042415"/>
            <a:ext cx="11201400" cy="429768"/>
          </a:xfrm>
          <a:prstGeom prst="roundRect">
            <a:avLst/>
          </a:prstGeom>
          <a:solidFill>
            <a:srgbClr val="185766"/>
          </a:solidFill>
          <a:ln w="6350">
            <a:solidFill>
              <a:srgbClr val="185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097280"/>
            <a:ext cx="108356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1F5F8"/>
                </a:solidFill>
                <a:latin typeface="Noto Sans CJK SC"/>
              </a:rPr>
              <a:t>核心观点  恢复难度由“外部可见性 + 可逆性 + 状态耦合度”共同决定。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28600"/>
            <a:ext cx="7040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60" b="0" i="0">
                <a:solidFill>
                  <a:srgbClr val="A5B5C1"/>
                </a:solidFill>
                <a:latin typeface="Noto Sans Mono CJK SC"/>
              </a:rPr>
              <a:t>REF · Method/EC.typ；Method/boom_dataflow_analysis.typ:247–279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83664"/>
            <a:ext cx="1920240" cy="3529584"/>
          </a:xfrm>
          <a:prstGeom prst="roundRect">
            <a:avLst/>
          </a:prstGeom>
          <a:solidFill>
            <a:srgbClr val="692B30"/>
          </a:solidFill>
          <a:ln w="13970">
            <a:solidFill>
              <a:srgbClr val="F16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066543"/>
            <a:ext cx="484632" cy="246888"/>
          </a:xfrm>
          <a:prstGeom prst="roundRect">
            <a:avLst/>
          </a:prstGeom>
          <a:solidFill>
            <a:srgbClr val="F16865"/>
          </a:solidFill>
          <a:ln w="6350">
            <a:solidFill>
              <a:srgbClr val="F16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75687"/>
            <a:ext cx="484632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D141D"/>
                </a:solidFill>
                <a:latin typeface="Noto Sans CJK SC"/>
              </a:rPr>
              <a:t>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487168"/>
            <a:ext cx="157276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16865"/>
                </a:solidFill>
                <a:latin typeface="Noto Sans CJK SC"/>
              </a:rPr>
              <a:t>不可提前写出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" y="3127248"/>
            <a:ext cx="1591056" cy="0"/>
          </a:xfrm>
          <a:prstGeom prst="line">
            <a:avLst/>
          </a:prstGeom>
          <a:ln w="10160">
            <a:solidFill>
              <a:srgbClr val="35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77824" y="3383280"/>
            <a:ext cx="159105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F5F8"/>
                </a:solidFill>
                <a:latin typeface="Noto Sans CJK SC"/>
              </a:rPr>
              <a:t>uncacheable Store / AMO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425696"/>
            <a:ext cx="160934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5B5C1"/>
                </a:solidFill>
                <a:latin typeface="Noto Sans CJK SC"/>
              </a:rPr>
              <a:t>必须等校验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" y="5074920"/>
            <a:ext cx="201168" cy="128016"/>
          </a:xfrm>
          <a:prstGeom prst="roundRect">
            <a:avLst/>
          </a:prstGeom>
          <a:solidFill>
            <a:srgbClr val="F16865"/>
          </a:solidFill>
          <a:ln w="3810">
            <a:solidFill>
              <a:srgbClr val="F16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5239512"/>
            <a:ext cx="15910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A5B5C1"/>
                </a:solidFill>
                <a:latin typeface="Noto Sans Mono CJK SC"/>
              </a:rPr>
              <a:t>恢复成本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1883664"/>
            <a:ext cx="1920240" cy="3529584"/>
          </a:xfrm>
          <a:prstGeom prst="roundRect">
            <a:avLst/>
          </a:prstGeom>
          <a:solidFill>
            <a:srgbClr val="18222E"/>
          </a:solidFill>
          <a:ln w="13970">
            <a:solidFill>
              <a:srgbClr val="EFC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36392" y="2066543"/>
            <a:ext cx="484632" cy="246888"/>
          </a:xfrm>
          <a:prstGeom prst="roundRect">
            <a:avLst/>
          </a:prstGeom>
          <a:solidFill>
            <a:srgbClr val="EFCB5A"/>
          </a:solidFill>
          <a:ln w="6350">
            <a:solidFill>
              <a:srgbClr val="EFC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36392" y="2075687"/>
            <a:ext cx="484632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D141D"/>
                </a:solidFill>
                <a:latin typeface="Noto Sans CJK SC"/>
              </a:rPr>
              <a:t>L2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6392" y="2487168"/>
            <a:ext cx="157276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FCB5A"/>
                </a:solidFill>
                <a:latin typeface="Noto Sans CJK SC"/>
              </a:rPr>
              <a:t>额外状态修改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36392" y="3127248"/>
            <a:ext cx="1591056" cy="0"/>
          </a:xfrm>
          <a:prstGeom prst="line">
            <a:avLst/>
          </a:prstGeom>
          <a:ln w="10160">
            <a:solidFill>
              <a:srgbClr val="35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36392" y="3383280"/>
            <a:ext cx="159105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F5F8"/>
                </a:solidFill>
                <a:latin typeface="Noto Sans CJK SC"/>
              </a:rPr>
              <a:t>uncacheable Load · LR/SC reservation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36392" y="4425696"/>
            <a:ext cx="160934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5B5C1"/>
                </a:solidFill>
                <a:latin typeface="Noto Sans CJK SC"/>
              </a:rPr>
              <a:t>备份返回值 / reservation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36392" y="5074920"/>
            <a:ext cx="201168" cy="128016"/>
          </a:xfrm>
          <a:prstGeom prst="roundRect">
            <a:avLst/>
          </a:prstGeom>
          <a:solidFill>
            <a:srgbClr val="EFCB5A"/>
          </a:solidFill>
          <a:ln w="3810">
            <a:solidFill>
              <a:srgbClr val="EFC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01568" y="5074920"/>
            <a:ext cx="201168" cy="128016"/>
          </a:xfrm>
          <a:prstGeom prst="roundRect">
            <a:avLst/>
          </a:prstGeom>
          <a:solidFill>
            <a:srgbClr val="EFCB5A"/>
          </a:solidFill>
          <a:ln w="3810">
            <a:solidFill>
              <a:srgbClr val="EFC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36392" y="5239512"/>
            <a:ext cx="15910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A5B5C1"/>
                </a:solidFill>
                <a:latin typeface="Noto Sans Mono CJK SC"/>
              </a:rPr>
              <a:t>恢复成本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30368" y="1883664"/>
            <a:ext cx="1920240" cy="3529584"/>
          </a:xfrm>
          <a:prstGeom prst="roundRect">
            <a:avLst/>
          </a:prstGeom>
          <a:solidFill>
            <a:srgbClr val="18222E"/>
          </a:solidFill>
          <a:ln w="13970">
            <a:solidFill>
              <a:srgbClr val="F2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94960" y="2066543"/>
            <a:ext cx="484632" cy="246888"/>
          </a:xfrm>
          <a:prstGeom prst="roundRect">
            <a:avLst/>
          </a:prstGeom>
          <a:solidFill>
            <a:srgbClr val="F29D46"/>
          </a:solidFill>
          <a:ln w="6350">
            <a:solidFill>
              <a:srgbClr val="F2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2075687"/>
            <a:ext cx="484632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D141D"/>
                </a:solidFill>
                <a:latin typeface="Noto Sans CJK SC"/>
              </a:rPr>
              <a:t>L3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2487168"/>
            <a:ext cx="157276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9D46"/>
                </a:solidFill>
                <a:latin typeface="Noto Sans CJK SC"/>
              </a:rPr>
              <a:t>Cache 系统状态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394960" y="3127248"/>
            <a:ext cx="1591056" cy="0"/>
          </a:xfrm>
          <a:prstGeom prst="line">
            <a:avLst/>
          </a:prstGeom>
          <a:ln w="10160">
            <a:solidFill>
              <a:srgbClr val="35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94960" y="3383280"/>
            <a:ext cx="159105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F5F8"/>
                </a:solidFill>
                <a:latin typeface="Noto Sans CJK SC"/>
              </a:rPr>
              <a:t>cacheable Store · dirty line · metadata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4425696"/>
            <a:ext cx="160934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5B5C1"/>
                </a:solidFill>
                <a:latin typeface="Noto Sans CJK SC"/>
              </a:rPr>
              <a:t>line / epoch / eviction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94960" y="5074920"/>
            <a:ext cx="201168" cy="128016"/>
          </a:xfrm>
          <a:prstGeom prst="roundRect">
            <a:avLst/>
          </a:prstGeom>
          <a:solidFill>
            <a:srgbClr val="F29D46"/>
          </a:solidFill>
          <a:ln w="3810">
            <a:solidFill>
              <a:srgbClr val="F2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0136" y="5074920"/>
            <a:ext cx="201168" cy="128016"/>
          </a:xfrm>
          <a:prstGeom prst="roundRect">
            <a:avLst/>
          </a:prstGeom>
          <a:solidFill>
            <a:srgbClr val="F29D46"/>
          </a:solidFill>
          <a:ln w="3810">
            <a:solidFill>
              <a:srgbClr val="F2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25312" y="5074920"/>
            <a:ext cx="201168" cy="128016"/>
          </a:xfrm>
          <a:prstGeom prst="roundRect">
            <a:avLst/>
          </a:prstGeom>
          <a:solidFill>
            <a:srgbClr val="F29D46"/>
          </a:solidFill>
          <a:ln w="3810">
            <a:solidFill>
              <a:srgbClr val="F2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0" y="5239512"/>
            <a:ext cx="15910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A5B5C1"/>
                </a:solidFill>
                <a:latin typeface="Noto Sans Mono CJK SC"/>
              </a:rPr>
              <a:t>恢复成本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88936" y="1883664"/>
            <a:ext cx="1920240" cy="3529584"/>
          </a:xfrm>
          <a:prstGeom prst="roundRect">
            <a:avLst/>
          </a:prstGeom>
          <a:solidFill>
            <a:srgbClr val="18222E"/>
          </a:solidFill>
          <a:ln w="1397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53527" y="2066543"/>
            <a:ext cx="484632" cy="246888"/>
          </a:xfrm>
          <a:prstGeom prst="roundRect">
            <a:avLst/>
          </a:prstGeom>
          <a:solidFill>
            <a:srgbClr val="45C9D6"/>
          </a:solidFill>
          <a:ln w="635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53527" y="2075687"/>
            <a:ext cx="484632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D141D"/>
                </a:solidFill>
                <a:latin typeface="Noto Sans CJK SC"/>
              </a:rPr>
              <a:t>L4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53527" y="2487168"/>
            <a:ext cx="157276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45C9D6"/>
                </a:solidFill>
                <a:latin typeface="Noto Sans CJK SC"/>
              </a:rPr>
              <a:t>架构状态恢复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653527" y="3127248"/>
            <a:ext cx="1591057" cy="0"/>
          </a:xfrm>
          <a:prstGeom prst="line">
            <a:avLst/>
          </a:prstGeom>
          <a:ln w="10160">
            <a:solidFill>
              <a:srgbClr val="35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653527" y="3383280"/>
            <a:ext cx="159105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F5F8"/>
                </a:solidFill>
                <a:latin typeface="Noto Sans CJK SC"/>
              </a:rPr>
              <a:t>CSR · register · privilege · PC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53527" y="4425696"/>
            <a:ext cx="160934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5B5C1"/>
                </a:solidFill>
                <a:latin typeface="Noto Sans CJK SC"/>
              </a:rPr>
              <a:t>checkpoint 快照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53527" y="5074920"/>
            <a:ext cx="201168" cy="128016"/>
          </a:xfrm>
          <a:prstGeom prst="roundRect">
            <a:avLst/>
          </a:prstGeom>
          <a:solidFill>
            <a:srgbClr val="45C9D6"/>
          </a:solidFill>
          <a:ln w="381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918703" y="5074920"/>
            <a:ext cx="201168" cy="128016"/>
          </a:xfrm>
          <a:prstGeom prst="roundRect">
            <a:avLst/>
          </a:prstGeom>
          <a:solidFill>
            <a:srgbClr val="45C9D6"/>
          </a:solidFill>
          <a:ln w="381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183879" y="5074920"/>
            <a:ext cx="201168" cy="128016"/>
          </a:xfrm>
          <a:prstGeom prst="roundRect">
            <a:avLst/>
          </a:prstGeom>
          <a:solidFill>
            <a:srgbClr val="45C9D6"/>
          </a:solidFill>
          <a:ln w="381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449055" y="5074920"/>
            <a:ext cx="201168" cy="128016"/>
          </a:xfrm>
          <a:prstGeom prst="roundRect">
            <a:avLst/>
          </a:prstGeom>
          <a:solidFill>
            <a:srgbClr val="45C9D6"/>
          </a:solidFill>
          <a:ln w="381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53527" y="5239512"/>
            <a:ext cx="15910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A5B5C1"/>
                </a:solidFill>
                <a:latin typeface="Noto Sans Mono CJK SC"/>
              </a:rPr>
              <a:t>恢复成本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47504" y="1883664"/>
            <a:ext cx="1920240" cy="3529584"/>
          </a:xfrm>
          <a:prstGeom prst="roundRect">
            <a:avLst/>
          </a:prstGeom>
          <a:solidFill>
            <a:srgbClr val="215440"/>
          </a:solidFill>
          <a:ln w="13970">
            <a:solidFill>
              <a:srgbClr val="60C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912096" y="2066543"/>
            <a:ext cx="484632" cy="246888"/>
          </a:xfrm>
          <a:prstGeom prst="roundRect">
            <a:avLst/>
          </a:prstGeom>
          <a:solidFill>
            <a:srgbClr val="60CA91"/>
          </a:solidFill>
          <a:ln w="6350">
            <a:solidFill>
              <a:srgbClr val="60C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12096" y="2075687"/>
            <a:ext cx="484632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D141D"/>
                </a:solidFill>
                <a:latin typeface="Noto Sans CJK SC"/>
              </a:rPr>
              <a:t>L5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12096" y="2487168"/>
            <a:ext cx="157276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0CA91"/>
                </a:solidFill>
                <a:latin typeface="Noto Sans CJK SC"/>
              </a:rPr>
              <a:t>无外部影响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912096" y="3127248"/>
            <a:ext cx="1591056" cy="0"/>
          </a:xfrm>
          <a:prstGeom prst="line">
            <a:avLst/>
          </a:prstGeom>
          <a:ln w="10160">
            <a:solidFill>
              <a:srgbClr val="35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912096" y="3383280"/>
            <a:ext cx="159105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1F5F8"/>
                </a:solidFill>
                <a:latin typeface="Noto Sans CJK SC"/>
              </a:rPr>
              <a:t>cacheable Load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12096" y="4425696"/>
            <a:ext cx="160934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A5B5C1"/>
                </a:solidFill>
                <a:latin typeface="Noto Sans CJK SC"/>
              </a:rPr>
              <a:t>replay / re-check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912096" y="5074920"/>
            <a:ext cx="201168" cy="128016"/>
          </a:xfrm>
          <a:prstGeom prst="roundRect">
            <a:avLst/>
          </a:prstGeom>
          <a:solidFill>
            <a:srgbClr val="60CA91"/>
          </a:solidFill>
          <a:ln w="3810">
            <a:solidFill>
              <a:srgbClr val="60C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177272" y="5074920"/>
            <a:ext cx="201168" cy="128016"/>
          </a:xfrm>
          <a:prstGeom prst="roundRect">
            <a:avLst/>
          </a:prstGeom>
          <a:solidFill>
            <a:srgbClr val="60CA91"/>
          </a:solidFill>
          <a:ln w="3810">
            <a:solidFill>
              <a:srgbClr val="60C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442448" y="5074920"/>
            <a:ext cx="201168" cy="128016"/>
          </a:xfrm>
          <a:prstGeom prst="roundRect">
            <a:avLst/>
          </a:prstGeom>
          <a:solidFill>
            <a:srgbClr val="60CA91"/>
          </a:solidFill>
          <a:ln w="3810">
            <a:solidFill>
              <a:srgbClr val="60C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0707624" y="5074920"/>
            <a:ext cx="201168" cy="128016"/>
          </a:xfrm>
          <a:prstGeom prst="roundRect">
            <a:avLst/>
          </a:prstGeom>
          <a:solidFill>
            <a:srgbClr val="60CA91"/>
          </a:solidFill>
          <a:ln w="3810">
            <a:solidFill>
              <a:srgbClr val="60C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0972800" y="5074920"/>
            <a:ext cx="201168" cy="128016"/>
          </a:xfrm>
          <a:prstGeom prst="roundRect">
            <a:avLst/>
          </a:prstGeom>
          <a:solidFill>
            <a:srgbClr val="60CA91"/>
          </a:solidFill>
          <a:ln w="3810">
            <a:solidFill>
              <a:srgbClr val="60C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12096" y="5239512"/>
            <a:ext cx="15910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A5B5C1"/>
                </a:solidFill>
                <a:latin typeface="Noto Sans Mono CJK SC"/>
              </a:rPr>
              <a:t>恢复成本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" y="57607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1" i="0">
                <a:solidFill>
                  <a:srgbClr val="EFCB5A"/>
                </a:solidFill>
                <a:latin typeface="Noto Sans CJK SC"/>
              </a:rPr>
              <a:t>边界提醒：普通 load 本身不写外部状态；但 read-clear / FIFO pop / 动态 CSR 属于不可重复输入，需单独记录。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02920" y="6409944"/>
            <a:ext cx="11183112" cy="0"/>
          </a:xfrm>
          <a:prstGeom prst="line">
            <a:avLst/>
          </a:prstGeom>
          <a:ln w="8890">
            <a:solidFill>
              <a:srgbClr val="35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12064" y="64739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A5B5C1"/>
                </a:solidFill>
                <a:latin typeface="Noto Sans Mono CJK SC"/>
              </a:rPr>
              <a:t>Chipyard · BOOM ↔ Rocket · Error recovery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6473952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A5B5C1"/>
                </a:solidFill>
                <a:latin typeface="Noto Sans Mono CJK SC"/>
              </a:rPr>
              <a:t>06 / DIFFICULTY TAXONOMY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2860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5C9D6"/>
                </a:solidFill>
                <a:latin typeface="Noto Sans Mono CJK SC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1031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5B5C1"/>
                </a:solidFill>
                <a:latin typeface="Noto Sans Mono CJK SC"/>
              </a:rPr>
              <a:t>RECOVERY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521207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1F5F8"/>
                </a:solidFill>
                <a:latin typeface="Noto Sans CJK SC"/>
              </a:rPr>
              <a:t>不同类别对应什么恢复策略？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" y="1042415"/>
            <a:ext cx="11201400" cy="429768"/>
          </a:xfrm>
          <a:prstGeom prst="roundRect">
            <a:avLst/>
          </a:prstGeom>
          <a:solidFill>
            <a:srgbClr val="185766"/>
          </a:solidFill>
          <a:ln w="6350">
            <a:solidFill>
              <a:srgbClr val="185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097280"/>
            <a:ext cx="108356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1F5F8"/>
                </a:solidFill>
                <a:latin typeface="Noto Sans CJK SC"/>
              </a:rPr>
              <a:t>核心观点  策略不是“一刀切暂停”：对不可逆路径加屏障，对可隐藏路径加版本与撤销能力。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28600"/>
            <a:ext cx="7040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60" b="0" i="0">
                <a:solidFill>
                  <a:srgbClr val="A5B5C1"/>
                </a:solidFill>
                <a:latin typeface="Noto Sans Mono CJK SC"/>
              </a:rPr>
              <a:t>REF · Method/boom_dataflow_analysis.typ:417–455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55648"/>
            <a:ext cx="2267712" cy="438912"/>
          </a:xfrm>
          <a:prstGeom prst="roundRect">
            <a:avLst/>
          </a:prstGeom>
          <a:solidFill>
            <a:srgbClr val="1F2B39"/>
          </a:solidFill>
          <a:ln w="1016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56231"/>
            <a:ext cx="2048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45C9D6"/>
                </a:solidFill>
                <a:latin typeface="Noto Sans CJK SC"/>
              </a:rPr>
              <a:t>状态类别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72384" y="1755648"/>
            <a:ext cx="2880360" cy="438912"/>
          </a:xfrm>
          <a:prstGeom prst="roundRect">
            <a:avLst/>
          </a:prstGeom>
          <a:solidFill>
            <a:srgbClr val="1F2B39"/>
          </a:solidFill>
          <a:ln w="10160">
            <a:solidFill>
              <a:srgbClr val="F2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2112" y="1856231"/>
            <a:ext cx="2660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29D46"/>
                </a:solidFill>
                <a:latin typeface="Noto Sans CJK SC"/>
              </a:rPr>
              <a:t>允许提前做什么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755648"/>
            <a:ext cx="2788920" cy="438912"/>
          </a:xfrm>
          <a:prstGeom prst="roundRect">
            <a:avLst/>
          </a:prstGeom>
          <a:solidFill>
            <a:srgbClr val="1F2B39"/>
          </a:solidFill>
          <a:ln w="10160">
            <a:solidFill>
              <a:srgbClr val="EFC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1856231"/>
            <a:ext cx="256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FCB5A"/>
                </a:solidFill>
                <a:latin typeface="Noto Sans CJK SC"/>
              </a:rPr>
              <a:t>必须记录什么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1755648"/>
            <a:ext cx="2514600" cy="438912"/>
          </a:xfrm>
          <a:prstGeom prst="roundRect">
            <a:avLst/>
          </a:prstGeom>
          <a:solidFill>
            <a:srgbClr val="1F2B39"/>
          </a:solidFill>
          <a:ln w="10160">
            <a:solidFill>
              <a:srgbClr val="60C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59" y="1856231"/>
            <a:ext cx="2295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60CA91"/>
                </a:solidFill>
                <a:latin typeface="Noto Sans CJK SC"/>
              </a:rPr>
              <a:t>错误时怎么恢复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304288"/>
            <a:ext cx="2267712" cy="640080"/>
          </a:xfrm>
          <a:prstGeom prst="roundRect">
            <a:avLst/>
          </a:prstGeom>
          <a:solidFill>
            <a:srgbClr val="18222E"/>
          </a:solidFill>
          <a:ln w="635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2414016"/>
            <a:ext cx="206654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16865"/>
                </a:solidFill>
                <a:latin typeface="Noto Sans CJK SC"/>
              </a:rPr>
              <a:t>uncacheable Store / AMO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72384" y="2304288"/>
            <a:ext cx="2880360" cy="640080"/>
          </a:xfrm>
          <a:prstGeom prst="roundRect">
            <a:avLst/>
          </a:prstGeom>
          <a:solidFill>
            <a:srgbClr val="18222E"/>
          </a:solidFill>
          <a:ln w="635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72968" y="2414016"/>
            <a:ext cx="267919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1F5F8"/>
                </a:solidFill>
                <a:latin typeface="Noto Sans CJK SC"/>
              </a:rPr>
              <a:t>不发 A 通道请求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2304288"/>
            <a:ext cx="2788920" cy="640080"/>
          </a:xfrm>
          <a:prstGeom prst="roundRect">
            <a:avLst/>
          </a:prstGeom>
          <a:solidFill>
            <a:srgbClr val="18222E"/>
          </a:solidFill>
          <a:ln w="635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5624" y="2414016"/>
            <a:ext cx="258775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1F5F8"/>
                </a:solidFill>
                <a:latin typeface="Noto Sans CJK SC"/>
              </a:rPr>
              <a:t>地址、数据、opcode、顺序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42832" y="2304288"/>
            <a:ext cx="2514600" cy="640080"/>
          </a:xfrm>
          <a:prstGeom prst="roundRect">
            <a:avLst/>
          </a:prstGeom>
          <a:solidFill>
            <a:srgbClr val="18222E"/>
          </a:solidFill>
          <a:ln w="635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43415" y="2414016"/>
            <a:ext cx="23134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1F5F8"/>
                </a:solidFill>
                <a:latin typeface="Noto Sans CJK SC"/>
              </a:rPr>
              <a:t>Barrier gate；校验通过再 commit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054096"/>
            <a:ext cx="2267712" cy="640080"/>
          </a:xfrm>
          <a:prstGeom prst="roundRect">
            <a:avLst/>
          </a:prstGeom>
          <a:solidFill>
            <a:srgbClr val="1F2B39"/>
          </a:solidFill>
          <a:ln w="635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3163824"/>
            <a:ext cx="206654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EFCB5A"/>
                </a:solidFill>
                <a:latin typeface="Noto Sans CJK SC"/>
              </a:rPr>
              <a:t>uncacheable Load / MMIO read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72384" y="3054096"/>
            <a:ext cx="2880360" cy="640080"/>
          </a:xfrm>
          <a:prstGeom prst="roundRect">
            <a:avLst/>
          </a:prstGeom>
          <a:solidFill>
            <a:srgbClr val="1F2B39"/>
          </a:solidFill>
          <a:ln w="635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72968" y="3163824"/>
            <a:ext cx="267919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1F5F8"/>
                </a:solidFill>
                <a:latin typeface="Noto Sans CJK SC"/>
              </a:rPr>
              <a:t>可执行一次并缓存返回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3054096"/>
            <a:ext cx="2788920" cy="640080"/>
          </a:xfrm>
          <a:prstGeom prst="roundRect">
            <a:avLst/>
          </a:prstGeom>
          <a:solidFill>
            <a:srgbClr val="1F2B39"/>
          </a:solidFill>
          <a:ln w="635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35624" y="3163824"/>
            <a:ext cx="258775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1F5F8"/>
                </a:solidFill>
                <a:latin typeface="Noto Sans CJK SC"/>
              </a:rPr>
              <a:t>返回值、事件序号、side-effect 标记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42832" y="3054096"/>
            <a:ext cx="2514600" cy="640080"/>
          </a:xfrm>
          <a:prstGeom prst="roundRect">
            <a:avLst/>
          </a:prstGeom>
          <a:solidFill>
            <a:srgbClr val="1F2B39"/>
          </a:solidFill>
          <a:ln w="635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43415" y="3163824"/>
            <a:ext cx="23134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1F5F8"/>
                </a:solidFill>
                <a:latin typeface="Noto Sans CJK SC"/>
              </a:rPr>
              <a:t>回放复用，不重复读设备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3803904"/>
            <a:ext cx="2267712" cy="640080"/>
          </a:xfrm>
          <a:prstGeom prst="roundRect">
            <a:avLst/>
          </a:prstGeom>
          <a:solidFill>
            <a:srgbClr val="18222E"/>
          </a:solidFill>
          <a:ln w="635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" y="3913632"/>
            <a:ext cx="206654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29D46"/>
                </a:solidFill>
                <a:latin typeface="Noto Sans CJK SC"/>
              </a:rPr>
              <a:t>cacheable Store / SC / AMO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72384" y="3803904"/>
            <a:ext cx="2880360" cy="640080"/>
          </a:xfrm>
          <a:prstGeom prst="roundRect">
            <a:avLst/>
          </a:prstGeom>
          <a:solidFill>
            <a:srgbClr val="18222E"/>
          </a:solidFill>
          <a:ln w="635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72968" y="3913632"/>
            <a:ext cx="267919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1F5F8"/>
                </a:solidFill>
                <a:latin typeface="Noto Sans CJK SC"/>
              </a:rPr>
              <a:t>可进入 L1D 私有状态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3803904"/>
            <a:ext cx="2788920" cy="640080"/>
          </a:xfrm>
          <a:prstGeom prst="roundRect">
            <a:avLst/>
          </a:prstGeom>
          <a:solidFill>
            <a:srgbClr val="18222E"/>
          </a:solidFill>
          <a:ln w="635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3913632"/>
            <a:ext cx="258775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1F5F8"/>
                </a:solidFill>
                <a:latin typeface="Noto Sans CJK SC"/>
              </a:rPr>
              <a:t>old value、byte mask、epoch、line metadata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42832" y="3803904"/>
            <a:ext cx="2514600" cy="640080"/>
          </a:xfrm>
          <a:prstGeom prst="roundRect">
            <a:avLst/>
          </a:prstGeom>
          <a:solidFill>
            <a:srgbClr val="18222E"/>
          </a:solidFill>
          <a:ln w="635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43415" y="3913632"/>
            <a:ext cx="23134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1F5F8"/>
                </a:solidFill>
                <a:latin typeface="Noto Sans CJK SC"/>
              </a:rPr>
              <a:t>undo log + line restore；禁止外发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" y="4553712"/>
            <a:ext cx="2267712" cy="640080"/>
          </a:xfrm>
          <a:prstGeom prst="roundRect">
            <a:avLst/>
          </a:prstGeom>
          <a:solidFill>
            <a:srgbClr val="1F2B39"/>
          </a:solidFill>
          <a:ln w="635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" y="4663440"/>
            <a:ext cx="206654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45C9D6"/>
                </a:solidFill>
                <a:latin typeface="Noto Sans CJK SC"/>
              </a:rPr>
              <a:t>CSR / register / privilege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72384" y="4553712"/>
            <a:ext cx="2880360" cy="640080"/>
          </a:xfrm>
          <a:prstGeom prst="roundRect">
            <a:avLst/>
          </a:prstGeom>
          <a:solidFill>
            <a:srgbClr val="1F2B39"/>
          </a:solidFill>
          <a:ln w="635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72968" y="4663440"/>
            <a:ext cx="267919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1F5F8"/>
                </a:solidFill>
                <a:latin typeface="Noto Sans CJK SC"/>
              </a:rPr>
              <a:t>在 speculative window 内推进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4553712"/>
            <a:ext cx="2788920" cy="640080"/>
          </a:xfrm>
          <a:prstGeom prst="roundRect">
            <a:avLst/>
          </a:prstGeom>
          <a:solidFill>
            <a:srgbClr val="1F2B39"/>
          </a:solidFill>
          <a:ln w="635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4663440"/>
            <a:ext cx="258775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1F5F8"/>
                </a:solidFill>
                <a:latin typeface="Noto Sans CJK SC"/>
              </a:rPr>
              <a:t>architectural checkpoint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42832" y="4553712"/>
            <a:ext cx="2514600" cy="640080"/>
          </a:xfrm>
          <a:prstGeom prst="roundRect">
            <a:avLst/>
          </a:prstGeom>
          <a:solidFill>
            <a:srgbClr val="1F2B39"/>
          </a:solidFill>
          <a:ln w="635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43415" y="4663440"/>
            <a:ext cx="23134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1F5F8"/>
                </a:solidFill>
                <a:latin typeface="Noto Sans CJK SC"/>
              </a:rPr>
              <a:t>恢复 PC + CSR + register state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" y="5303520"/>
            <a:ext cx="2267712" cy="640080"/>
          </a:xfrm>
          <a:prstGeom prst="roundRect">
            <a:avLst/>
          </a:prstGeom>
          <a:solidFill>
            <a:srgbClr val="18222E"/>
          </a:solidFill>
          <a:ln w="635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" y="5413248"/>
            <a:ext cx="206654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60CA91"/>
                </a:solidFill>
                <a:latin typeface="Noto Sans CJK SC"/>
              </a:rPr>
              <a:t>cacheable Load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72384" y="5303520"/>
            <a:ext cx="2880360" cy="640080"/>
          </a:xfrm>
          <a:prstGeom prst="roundRect">
            <a:avLst/>
          </a:prstGeom>
          <a:solidFill>
            <a:srgbClr val="18222E"/>
          </a:solidFill>
          <a:ln w="635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72968" y="5413248"/>
            <a:ext cx="267919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1F5F8"/>
                </a:solidFill>
                <a:latin typeface="Noto Sans CJK SC"/>
              </a:rPr>
              <a:t>自由执行 / 重放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35040" y="5303520"/>
            <a:ext cx="2788920" cy="640080"/>
          </a:xfrm>
          <a:prstGeom prst="roundRect">
            <a:avLst/>
          </a:prstGeom>
          <a:solidFill>
            <a:srgbClr val="18222E"/>
          </a:solidFill>
          <a:ln w="635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5413248"/>
            <a:ext cx="258775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1F5F8"/>
                </a:solidFill>
                <a:latin typeface="Noto Sans CJK SC"/>
              </a:rPr>
              <a:t>可选的依赖与顺序信息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42832" y="5303520"/>
            <a:ext cx="2514600" cy="640080"/>
          </a:xfrm>
          <a:prstGeom prst="roundRect">
            <a:avLst/>
          </a:prstGeom>
          <a:solidFill>
            <a:srgbClr val="18222E"/>
          </a:solidFill>
          <a:ln w="635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43415" y="5413248"/>
            <a:ext cx="23134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1F5F8"/>
                </a:solidFill>
                <a:latin typeface="Noto Sans CJK SC"/>
              </a:rPr>
              <a:t>重新执行或重新校验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2" y="6144768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F1F5F8"/>
                </a:solidFill>
                <a:latin typeface="Noto Sans CJK SC"/>
              </a:rPr>
              <a:t>统一判据：凡是可能到达不可恢复区域的修改，必须先验证；凡是允许提前执行的修改，必须有 Undo。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02920" y="6409944"/>
            <a:ext cx="11183112" cy="0"/>
          </a:xfrm>
          <a:prstGeom prst="line">
            <a:avLst/>
          </a:prstGeom>
          <a:ln w="8890">
            <a:solidFill>
              <a:srgbClr val="35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12064" y="64739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A5B5C1"/>
                </a:solidFill>
                <a:latin typeface="Noto Sans Mono CJK SC"/>
              </a:rPr>
              <a:t>Chipyard · BOOM ↔ Rocket · Error recovery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6473952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A5B5C1"/>
                </a:solidFill>
                <a:latin typeface="Noto Sans Mono CJK SC"/>
              </a:rPr>
              <a:t>07 / RECOVERY POLICY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2860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5C9D6"/>
                </a:solidFill>
                <a:latin typeface="Noto Sans Mono CJK SC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1031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5B5C1"/>
                </a:solidFill>
                <a:latin typeface="Noto Sans Mono CJK SC"/>
              </a:rPr>
              <a:t>END-TO-END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521207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1F5F8"/>
                </a:solidFill>
                <a:latin typeface="Noto Sans CJK SC"/>
              </a:rPr>
              <a:t>整体 BOOM–Rocket 协同校验与恢复框架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" y="1042415"/>
            <a:ext cx="11201400" cy="429768"/>
          </a:xfrm>
          <a:prstGeom prst="roundRect">
            <a:avLst/>
          </a:prstGeom>
          <a:solidFill>
            <a:srgbClr val="185766"/>
          </a:solidFill>
          <a:ln w="6350">
            <a:solidFill>
              <a:srgbClr val="185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097280"/>
            <a:ext cx="108356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1F5F8"/>
                </a:solidFill>
                <a:latin typeface="Noto Sans CJK SC"/>
              </a:rPr>
              <a:t>核心观点  校验路径决定“何时放行”，状态日志决定“错误后能否回到一致点”。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28600"/>
            <a:ext cx="7040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60" b="0" i="0">
                <a:solidFill>
                  <a:srgbClr val="A5B5C1"/>
                </a:solidFill>
                <a:latin typeface="Noto Sans Mono CJK SC"/>
              </a:rPr>
              <a:t>REF · Method/boom_dataflow_analysis.typ:312–342；Method/ParaMedic配置对比与瓶颈分析.typ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64792"/>
            <a:ext cx="1353312" cy="694944"/>
          </a:xfrm>
          <a:prstGeom prst="roundRect">
            <a:avLst/>
          </a:prstGeom>
          <a:solidFill>
            <a:srgbClr val="1F2B39"/>
          </a:solidFill>
          <a:ln w="1397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64792"/>
            <a:ext cx="64008" cy="694944"/>
          </a:xfrm>
          <a:prstGeom prst="rect">
            <a:avLst/>
          </a:prstGeom>
          <a:solidFill>
            <a:srgbClr val="45C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88366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1F5F8"/>
                </a:solidFill>
                <a:latin typeface="Noto Sans CJK SC"/>
              </a:rPr>
              <a:t>BOOM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03704"/>
            <a:ext cx="1097280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CJK SC"/>
              </a:rPr>
              <a:t>execute / speculate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0592" y="1764792"/>
            <a:ext cx="1572768" cy="694944"/>
          </a:xfrm>
          <a:prstGeom prst="roundRect">
            <a:avLst/>
          </a:prstGeom>
          <a:solidFill>
            <a:srgbClr val="1F2B39"/>
          </a:solidFill>
          <a:ln w="1397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50592" y="1764792"/>
            <a:ext cx="64008" cy="694944"/>
          </a:xfrm>
          <a:prstGeom prst="rect">
            <a:avLst/>
          </a:prstGeom>
          <a:solidFill>
            <a:srgbClr val="45C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1883664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1F5F8"/>
                </a:solidFill>
                <a:latin typeface="Noto Sans CJK SC"/>
              </a:rPr>
              <a:t>GH_BUF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8608" y="2203704"/>
            <a:ext cx="1316736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CJK SC"/>
              </a:rPr>
              <a:t>packetize + seq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1764792"/>
            <a:ext cx="1645920" cy="694944"/>
          </a:xfrm>
          <a:prstGeom prst="roundRect">
            <a:avLst/>
          </a:prstGeom>
          <a:solidFill>
            <a:srgbClr val="1F2B39"/>
          </a:solidFill>
          <a:ln w="13970">
            <a:solidFill>
              <a:srgbClr val="EFC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7408" y="1764792"/>
            <a:ext cx="64008" cy="694944"/>
          </a:xfrm>
          <a:prstGeom prst="rect">
            <a:avLst/>
          </a:prstGeom>
          <a:solidFill>
            <a:srgbClr val="EFC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1883664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1F5F8"/>
                </a:solidFill>
                <a:latin typeface="Noto Sans CJK SC"/>
              </a:rPr>
              <a:t>GHM / CDC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2203704"/>
            <a:ext cx="1389888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CJK SC"/>
              </a:rPr>
              <a:t>async queue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088" y="1764792"/>
            <a:ext cx="1444752" cy="694944"/>
          </a:xfrm>
          <a:prstGeom prst="roundRect">
            <a:avLst/>
          </a:prstGeom>
          <a:solidFill>
            <a:srgbClr val="1F2B39"/>
          </a:solidFill>
          <a:ln w="13970">
            <a:solidFill>
              <a:srgbClr val="60C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19088" y="1764792"/>
            <a:ext cx="64008" cy="694944"/>
          </a:xfrm>
          <a:prstGeom prst="rect">
            <a:avLst/>
          </a:prstGeom>
          <a:solidFill>
            <a:srgbClr val="60C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3" y="188366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1F5F8"/>
                </a:solidFill>
                <a:latin typeface="Noto Sans CJK SC"/>
              </a:rPr>
              <a:t>Rocket ×4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3" y="2203704"/>
            <a:ext cx="1188720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CJK SC"/>
              </a:rPr>
              <a:t>replay / compare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47888" y="1764792"/>
            <a:ext cx="1572768" cy="694944"/>
          </a:xfrm>
          <a:prstGeom prst="roundRect">
            <a:avLst/>
          </a:prstGeom>
          <a:solidFill>
            <a:srgbClr val="1F2B39"/>
          </a:solidFill>
          <a:ln w="13970">
            <a:solidFill>
              <a:srgbClr val="60C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47888" y="1764792"/>
            <a:ext cx="64008" cy="694944"/>
          </a:xfrm>
          <a:prstGeom prst="rect">
            <a:avLst/>
          </a:prstGeom>
          <a:solidFill>
            <a:srgbClr val="60C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1883664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1F5F8"/>
                </a:solidFill>
                <a:latin typeface="Noto Sans CJK SC"/>
              </a:rPr>
              <a:t>Check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2203704"/>
            <a:ext cx="1316736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CJK SC"/>
              </a:rPr>
              <a:t>pass / reject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103120" y="2112264"/>
            <a:ext cx="256032" cy="0"/>
          </a:xfrm>
          <a:prstGeom prst="line">
            <a:avLst/>
          </a:prstGeom>
          <a:ln w="22860">
            <a:solidFill>
              <a:srgbClr val="45C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041648" y="2112264"/>
            <a:ext cx="274320" cy="0"/>
          </a:xfrm>
          <a:prstGeom prst="line">
            <a:avLst/>
          </a:prstGeom>
          <a:ln w="22860">
            <a:solidFill>
              <a:srgbClr val="45C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0760" y="2112264"/>
            <a:ext cx="246888" cy="0"/>
          </a:xfrm>
          <a:prstGeom prst="line">
            <a:avLst/>
          </a:prstGeom>
          <a:ln w="22860">
            <a:solidFill>
              <a:srgbClr val="EFC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36992" y="2112264"/>
            <a:ext cx="219456" cy="0"/>
          </a:xfrm>
          <a:prstGeom prst="line">
            <a:avLst/>
          </a:prstGeom>
          <a:ln w="22860">
            <a:solidFill>
              <a:srgbClr val="60C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1520" y="2926080"/>
            <a:ext cx="3383280" cy="2395728"/>
          </a:xfrm>
          <a:prstGeom prst="roundRect">
            <a:avLst/>
          </a:prstGeom>
          <a:solidFill>
            <a:srgbClr val="18222E"/>
          </a:solidFill>
          <a:ln w="1016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312724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16865"/>
                </a:solidFill>
                <a:latin typeface="Noto Sans CJK SC"/>
              </a:rPr>
              <a:t>1 · Gate manager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352044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16865"/>
                </a:solidFill>
                <a:latin typeface="Noto Sans CJK SC"/>
              </a:rPr>
              <a:t>• MMIO / uncacheable 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1F5F8"/>
                </a:solidFill>
                <a:latin typeface="Noto Sans CJK SC"/>
              </a:rPr>
              <a:t>• 校验通过前不允许 Put / Atomic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1F5F8"/>
                </a:solidFill>
                <a:latin typeface="Noto Sans CJK SC"/>
              </a:rPr>
              <a:t>• 记录请求顺序与 commit token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1F5F8"/>
                </a:solidFill>
                <a:latin typeface="Noto Sans CJK SC"/>
              </a:rPr>
              <a:t>• 设备接收 = 不可逆边界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07408" y="2926080"/>
            <a:ext cx="3383280" cy="2395728"/>
          </a:xfrm>
          <a:prstGeom prst="roundRect">
            <a:avLst/>
          </a:prstGeom>
          <a:solidFill>
            <a:srgbClr val="18222E"/>
          </a:solidFill>
          <a:ln w="1016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08576" y="312724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9D46"/>
                </a:solidFill>
                <a:latin typeface="Noto Sans CJK SC"/>
              </a:rPr>
              <a:t>2 · Versioned L1D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08576" y="352044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F29D46"/>
                </a:solidFill>
                <a:latin typeface="Noto Sans CJK SC"/>
              </a:rPr>
              <a:t>• line timestamp / epoch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1F5F8"/>
                </a:solidFill>
                <a:latin typeface="Noto Sans CJK SC"/>
              </a:rPr>
              <a:t>• 未确认 dirty bytes 不得 Release / Probe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1F5F8"/>
                </a:solidFill>
                <a:latin typeface="Noto Sans CJK SC"/>
              </a:rPr>
              <a:t>• old value + byte mask → undo log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1F5F8"/>
                </a:solidFill>
                <a:latin typeface="Noto Sans CJK SC"/>
              </a:rPr>
              <a:t>• 必要时暂停主核并缩短 checkpoint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83296" y="2926080"/>
            <a:ext cx="3364992" cy="2395728"/>
          </a:xfrm>
          <a:prstGeom prst="roundRect">
            <a:avLst/>
          </a:prstGeom>
          <a:solidFill>
            <a:srgbClr val="18222E"/>
          </a:solidFill>
          <a:ln w="10160"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84464" y="312724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5C9D6"/>
                </a:solidFill>
                <a:latin typeface="Noto Sans CJK SC"/>
              </a:rPr>
              <a:t>3 · Recovery controller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4464" y="3520440"/>
            <a:ext cx="290779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45C9D6"/>
                </a:solidFill>
                <a:latin typeface="Noto Sans CJK SC"/>
              </a:rPr>
              <a:t>• checkpoint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1F5F8"/>
                </a:solidFill>
                <a:latin typeface="Noto Sans CJK SC"/>
              </a:rPr>
              <a:t>• flush ROB / TLB / internal queues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1F5F8"/>
                </a:solidFill>
                <a:latin typeface="Noto Sans CJK SC"/>
              </a:rPr>
              <a:t>• restore CSR + register + reservation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1F5F8"/>
                </a:solidFill>
                <a:latin typeface="Noto Sans CJK SC"/>
              </a:rPr>
              <a:t>• replay from last consistent epoch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052560" y="2487168"/>
            <a:ext cx="0" cy="365760"/>
          </a:xfrm>
          <a:prstGeom prst="line">
            <a:avLst/>
          </a:prstGeom>
          <a:ln w="21590">
            <a:solidFill>
              <a:srgbClr val="60C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224528" y="2852928"/>
            <a:ext cx="0" cy="1234440"/>
          </a:xfrm>
          <a:prstGeom prst="line">
            <a:avLst/>
          </a:prstGeom>
          <a:ln w="21590">
            <a:solidFill>
              <a:srgbClr val="F168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540496" y="2578608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16865"/>
                </a:solidFill>
                <a:latin typeface="Noto Sans CJK SC"/>
              </a:rPr>
              <a:t>reject → rollback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570585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F1F5F8"/>
                </a:solidFill>
                <a:latin typeface="Noto Sans Mono CJK SC"/>
              </a:rPr>
              <a:t>成功路径：execute → validate → release      错误路径：detect → stop propagation → undo / checkpoint restore → replay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02920" y="6409944"/>
            <a:ext cx="11183112" cy="0"/>
          </a:xfrm>
          <a:prstGeom prst="line">
            <a:avLst/>
          </a:prstGeom>
          <a:ln w="8890">
            <a:solidFill>
              <a:srgbClr val="35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12064" y="64739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A5B5C1"/>
                </a:solidFill>
                <a:latin typeface="Noto Sans Mono CJK SC"/>
              </a:rPr>
              <a:t>Chipyard · BOOM ↔ Rocket · Error recovery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6473952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A5B5C1"/>
                </a:solidFill>
                <a:latin typeface="Noto Sans Mono CJK SC"/>
              </a:rPr>
              <a:t>08 / SYSTEM FRAMEWORK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22860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5C9D6"/>
                </a:solidFill>
                <a:latin typeface="Noto Sans Mono CJK SC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1031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5B5C1"/>
                </a:solidFill>
                <a:latin typeface="Noto Sans Mono CJK SC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521207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1F5F8"/>
                </a:solidFill>
                <a:latin typeface="Noto Sans CJK SC"/>
              </a:rPr>
              <a:t>Barrier + Checkpoint + Undo Log：三条设计原则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" y="1042415"/>
            <a:ext cx="11201400" cy="429768"/>
          </a:xfrm>
          <a:prstGeom prst="roundRect">
            <a:avLst/>
          </a:prstGeom>
          <a:solidFill>
            <a:srgbClr val="185766"/>
          </a:solidFill>
          <a:ln w="6350">
            <a:solidFill>
              <a:srgbClr val="185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097280"/>
            <a:ext cx="108356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1F5F8"/>
                </a:solidFill>
                <a:latin typeface="Noto Sans CJK SC"/>
              </a:rPr>
              <a:t>核心观点  先定位传播路径，再决定屏障；先定义可恢复性，再决定允许多少投机。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28600"/>
            <a:ext cx="7040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60" b="0" i="0">
                <a:solidFill>
                  <a:srgbClr val="A5B5C1"/>
                </a:solidFill>
                <a:latin typeface="Noto Sans Mono CJK SC"/>
              </a:rPr>
              <a:t>REF · 研究内容汇总；Method/EC.typ；Method/boom_dataflow_analysis.typ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810512"/>
            <a:ext cx="10625328" cy="896112"/>
          </a:xfrm>
          <a:prstGeom prst="roundRect">
            <a:avLst/>
          </a:prstGeom>
          <a:solidFill>
            <a:srgbClr val="18222E"/>
          </a:solidFill>
          <a:ln w="1270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093976"/>
            <a:ext cx="603504" cy="246888"/>
          </a:xfrm>
          <a:prstGeom prst="roundRect">
            <a:avLst/>
          </a:prstGeom>
          <a:solidFill>
            <a:srgbClr val="45C9D6"/>
          </a:solidFill>
          <a:ln w="635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603504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D141D"/>
                </a:solidFill>
                <a:latin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9339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5C9D6"/>
                </a:solidFill>
                <a:latin typeface="Noto Sans CJK SC"/>
              </a:rPr>
              <a:t>路径优先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56816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1F5F8"/>
                </a:solidFill>
                <a:latin typeface="Noto Sans CJK SC"/>
              </a:rPr>
              <a:t>先分析状态传播路径，再决定 Barrier 位置。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313432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Mono CJK SC"/>
              </a:rPr>
              <a:t>dmem.req.fire → L1D → C → L2 → AXI / device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2980944"/>
            <a:ext cx="10625328" cy="896112"/>
          </a:xfrm>
          <a:prstGeom prst="roundRect">
            <a:avLst/>
          </a:prstGeom>
          <a:solidFill>
            <a:srgbClr val="18222E"/>
          </a:solidFill>
          <a:ln w="12700">
            <a:solidFill>
              <a:srgbClr val="F16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3264408"/>
            <a:ext cx="603504" cy="246888"/>
          </a:xfrm>
          <a:prstGeom prst="roundRect">
            <a:avLst/>
          </a:prstGeom>
          <a:solidFill>
            <a:srgbClr val="F16865"/>
          </a:solidFill>
          <a:ln w="6350">
            <a:solidFill>
              <a:srgbClr val="F16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273551"/>
            <a:ext cx="603504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D141D"/>
                </a:solidFill>
                <a:latin typeface="Noto Sans CJK S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16382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16865"/>
                </a:solidFill>
                <a:latin typeface="Noto Sans CJK SC"/>
              </a:rPr>
              <a:t>边界必检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12724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1F5F8"/>
                </a:solidFill>
                <a:latin typeface="Noto Sans CJK SC"/>
              </a:rPr>
              <a:t>所有可能传播到不可恢复区域的状态修改必须经过校验。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483863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Mono CJK SC"/>
              </a:rPr>
              <a:t>uncacheable Store / AMO：Barrier before commit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4151376"/>
            <a:ext cx="10625328" cy="896112"/>
          </a:xfrm>
          <a:prstGeom prst="roundRect">
            <a:avLst/>
          </a:prstGeom>
          <a:solidFill>
            <a:srgbClr val="18222E"/>
          </a:solidFill>
          <a:ln w="12700">
            <a:solidFill>
              <a:srgbClr val="F2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4434840"/>
            <a:ext cx="603504" cy="246888"/>
          </a:xfrm>
          <a:prstGeom prst="roundRect">
            <a:avLst/>
          </a:prstGeom>
          <a:solidFill>
            <a:srgbClr val="F29D46"/>
          </a:solidFill>
          <a:ln w="6350">
            <a:solidFill>
              <a:srgbClr val="F29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443983"/>
            <a:ext cx="603504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 i="0">
                <a:solidFill>
                  <a:srgbClr val="0D141D"/>
                </a:solidFill>
                <a:latin typeface="Noto Sans CJK S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334256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29D46"/>
                </a:solidFill>
                <a:latin typeface="Noto Sans CJK SC"/>
              </a:rPr>
              <a:t>提前必撤销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297680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1F5F8"/>
                </a:solidFill>
                <a:latin typeface="Noto Sans CJK SC"/>
              </a:rPr>
              <a:t>所有允许提前执行的修改必须具备 Undo 能力。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654296"/>
            <a:ext cx="7269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A5B5C1"/>
                </a:solidFill>
                <a:latin typeface="Noto Sans Mono CJK SC"/>
              </a:rPr>
              <a:t>checkpoint + old value + epoch / version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" y="5468112"/>
            <a:ext cx="10625328" cy="594360"/>
          </a:xfrm>
          <a:prstGeom prst="roundRect">
            <a:avLst/>
          </a:prstGeom>
          <a:solidFill>
            <a:srgbClr val="185766"/>
          </a:solidFill>
          <a:ln w="10160">
            <a:solidFill>
              <a:srgbClr val="45C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641848"/>
            <a:ext cx="10104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1F5F8"/>
                </a:solidFill>
                <a:latin typeface="Noto Sans CJK SC"/>
              </a:rPr>
              <a:t>最终目标：BOOM 保持高吞吐，Rocket 提供独立确认；错误不越过不可逆边界，恢复回到一致状态。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6181344"/>
            <a:ext cx="10625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19" b="0" i="0">
                <a:solidFill>
                  <a:srgbClr val="A5B5C1"/>
                </a:solidFill>
                <a:latin typeface="Noto Sans Mono CJK SC"/>
              </a:rPr>
              <a:t>下一步验证：MMIO barrier · L1D timestamp/eviction gate · undo log/ECC · checkpoint replay · fault injection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" y="6409944"/>
            <a:ext cx="11183112" cy="0"/>
          </a:xfrm>
          <a:prstGeom prst="line">
            <a:avLst/>
          </a:prstGeom>
          <a:ln w="8890">
            <a:solidFill>
              <a:srgbClr val="354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12064" y="64739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A5B5C1"/>
                </a:solidFill>
                <a:latin typeface="Noto Sans Mono CJK SC"/>
              </a:rPr>
              <a:t>Chipyard · BOOM ↔ Rocket · Error recovery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473952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>
                <a:solidFill>
                  <a:srgbClr val="A5B5C1"/>
                </a:solidFill>
                <a:latin typeface="Noto Sans Mono CJK SC"/>
              </a:rPr>
              <a:t>09 / 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